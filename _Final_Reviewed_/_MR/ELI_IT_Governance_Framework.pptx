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F5F8B">
              <a:alpha val="70000"/>
            </a:srgbClr>
          </a:solidFill>
          <a:ln w="12700">
            <a:solidFill>
              <a:srgbClr val="1F5F8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5943600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Governance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Incident, Production Issue,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Project Management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 ·  ITIL 4  ·  SK-CTIO-001/TID/III/2026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Information Directorate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502920"/>
            <a:ext cx="502920" cy="5029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502920"/>
            <a:ext cx="502920" cy="50292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02920"/>
            <a:ext cx="502920" cy="50292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0292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1280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CTIO Presentation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640080"/>
          </a:xfrm>
          <a:prstGeom prst="rect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54864" cy="6400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686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868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Top Management Support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4160520" cy="640080"/>
          </a:xfrm>
          <a:prstGeom prst="rect">
            <a:avLst/>
          </a:prstGeom>
          <a:solidFill>
            <a:srgbClr val="1F5F8B">
              <a:alpha val="12000"/>
            </a:srgbClr>
          </a:solidFill>
          <a:ln w="12700">
            <a:solidFill>
              <a:srgbClr val="1F5F8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09928"/>
            <a:ext cx="54864" cy="64008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70992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1709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 (ISO 27001 + ITIL 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51176"/>
            <a:ext cx="4160520" cy="640080"/>
          </a:xfrm>
          <a:prstGeom prst="rect">
            <a:avLst/>
          </a:prstGeom>
          <a:solidFill>
            <a:srgbClr val="1F5F8B">
              <a:alpha val="12000"/>
            </a:srgbClr>
          </a:solidFill>
          <a:ln w="12700">
            <a:solidFill>
              <a:srgbClr val="1F5F8B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51176"/>
            <a:ext cx="54864" cy="64008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55117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" y="25511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Issue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4160520" cy="64008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92424"/>
            <a:ext cx="54864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39242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968" y="33924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&amp; CAB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4160520" cy="64008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868680"/>
            <a:ext cx="54864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8686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868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— IT Tier Governance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709928"/>
            <a:ext cx="4160520" cy="640080"/>
          </a:xfrm>
          <a:prstGeom prst="rect">
            <a:avLst/>
          </a:prstGeom>
          <a:solidFill>
            <a:srgbClr val="1E7E4A">
              <a:alpha val="12000"/>
            </a:srgbClr>
          </a:solidFill>
          <a:ln w="12700">
            <a:solidFill>
              <a:srgbClr val="1E7E4A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709928"/>
            <a:ext cx="54864" cy="6400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170992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21808" y="170992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Metrics &amp; Improvement Roadmap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551176"/>
            <a:ext cx="4160520" cy="64008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551176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55117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25511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&amp; Dukungan Top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Ini Penting Sekarang?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670048" cy="3493008"/>
          </a:xfrm>
          <a:prstGeom prst="rect">
            <a:avLst/>
          </a:prstGeom>
          <a:solidFill>
            <a:srgbClr val="1F5F8B">
              <a:alpha val="30000"/>
            </a:srgbClr>
          </a:solidFill>
          <a:ln w="12700">
            <a:solidFill>
              <a:srgbClr val="C0392B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89888"/>
            <a:ext cx="267004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087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444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yang Ada Saat Ini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1208" y="2011680"/>
            <a:ext cx="24871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Findings ISO 27001:2022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Insiden tanpa Lessons Learned (Finding #9 &amp; #10)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Priority Matrix — semua insiden dianggap setara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CAB formal untuk Change Management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Tidak ada KEDB — masalah berulang tidak terdokumentasi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7832" y="1389888"/>
            <a:ext cx="2670048" cy="3493008"/>
          </a:xfrm>
          <a:prstGeom prst="rect">
            <a:avLst/>
          </a:prstGeom>
          <a:solidFill>
            <a:srgbClr val="1F5F8B">
              <a:alpha val="30000"/>
            </a:srgbClr>
          </a:solidFill>
          <a:ln w="12700">
            <a:solidFill>
              <a:srgbClr val="E8A020">
                <a:alpha val="8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7832" y="1389888"/>
            <a:ext cx="267004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087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76472" y="1444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Kami Bangun (v3)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37560" y="2011680"/>
            <a:ext cx="24871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SOP terpisah: Insiden, Production Issue, Change Request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Matrix P1–P4 sesuai ITIL 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CAB formal dengan SK-CTIO-001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Error Database (KEDB)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Post-Incident Review + CSAT Survey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389888"/>
            <a:ext cx="2670048" cy="3493008"/>
          </a:xfrm>
          <a:prstGeom prst="rect">
            <a:avLst/>
          </a:prstGeom>
          <a:solidFill>
            <a:srgbClr val="1F5F8B">
              <a:alpha val="30000"/>
            </a:srgbClr>
          </a:solidFill>
          <a:ln w="12700">
            <a:solidFill>
              <a:srgbClr val="1E7E4A">
                <a:alpha val="8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389888"/>
            <a:ext cx="2670048" cy="5486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087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444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Ingin Dicapai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44768" y="2011680"/>
            <a:ext cx="24871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≥ 90%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CSAT Score ≥ 4.0/5.0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P1 tanpa PIR terdokumentasi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Menutup 18 Findings ISO 27001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metrics bulan pertama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Top Management yang Dibutuhkan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dukungan ini, implementasi akan terhambat — SOP ada, tapi tidak dijalankan.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15727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325880"/>
            <a:ext cx="402336" cy="402336"/>
          </a:xfrm>
          <a:prstGeom prst="ellipse">
            <a:avLst/>
          </a:prstGeom>
          <a:solidFill>
            <a:srgbClr val="1F5F8B">
              <a:alpha val="85000"/>
            </a:srgbClr>
          </a:solidFill>
          <a:ln w="12700">
            <a:solidFill>
              <a:srgbClr val="1F5F8B">
                <a:alpha val="8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6245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6968" y="13075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Pengesahan Kebijakan &amp; 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" y="1655064"/>
            <a:ext cx="2176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Tandatangan SK-CTIO-001 Pembentukan CAB. Endorsement PO-ITS-107, 108, dan 109 v3 sebagai kebijakan resmi perusahaan yang mengikat seluruh direktorat.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64408" y="1234440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4408" y="1234440"/>
            <a:ext cx="54864" cy="157276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325880"/>
            <a:ext cx="402336" cy="402336"/>
          </a:xfrm>
          <a:prstGeom prst="ellipse">
            <a:avLst/>
          </a:prstGeom>
          <a:solidFill>
            <a:srgbClr val="0D8A8A">
              <a:alpha val="85000"/>
            </a:srgbClr>
          </a:solidFill>
          <a:ln w="12700">
            <a:solidFill>
              <a:srgbClr val="0D8A8A">
                <a:alpha val="8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36245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31336" y="13075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Pembentukan Tim &amp; Penugasan Formal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831336" y="1655064"/>
            <a:ext cx="2176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anggota CAB secara resmi. Penugasan Change Manager (IT Security &amp; Governance). Komitmen kehadiran CTIO di CAB untuk High Impact CR.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08776" y="1234440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08776" y="1234440"/>
            <a:ext cx="54864" cy="15727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81928" y="1325880"/>
            <a:ext cx="402336" cy="402336"/>
          </a:xfrm>
          <a:prstGeom prst="ellipse">
            <a:avLst/>
          </a:prstGeom>
          <a:solidFill>
            <a:srgbClr val="E8A020">
              <a:alpha val="85000"/>
            </a:srgbClr>
          </a:solidFill>
          <a:ln w="12700">
            <a:solidFill>
              <a:srgbClr val="E8A020">
                <a:alpha val="85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36245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75704" y="13075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Prioritas &amp; Waktu Tim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75704" y="1655064"/>
            <a:ext cx="2176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ketersediaan anggota CAB setiap Kamis 10:00. Izin tim IT untuk Post-Incident Review meeting (P1/P2 wajib dalam 3–5 hari). Alokasi dedicated untuk implementasi awal.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2926080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2926080"/>
            <a:ext cx="54864" cy="1572768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93192" y="3017520"/>
            <a:ext cx="402336" cy="402336"/>
          </a:xfrm>
          <a:prstGeom prst="ellipse">
            <a:avLst/>
          </a:prstGeom>
          <a:solidFill>
            <a:srgbClr val="1E7E4A">
              <a:alpha val="85000"/>
            </a:srgbClr>
          </a:solidFill>
          <a:ln w="12700">
            <a:solidFill>
              <a:srgbClr val="1E7E4A">
                <a:alpha val="8500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05409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" y="29992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 &amp; Escalation Path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86968" y="3346704"/>
            <a:ext cx="2176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Komitmen menerima laporan bulanan Change &amp; Incident Metrics. Menjadi final escalation point untuk P1 insiden dan Tier 1 Project. Review CSAT Score dalam management meeting.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264408" y="2926080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64408" y="2926080"/>
            <a:ext cx="54864" cy="15727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337560" y="3017520"/>
            <a:ext cx="402336" cy="402336"/>
          </a:xfrm>
          <a:prstGeom prst="ellipse">
            <a:avLst/>
          </a:prstGeom>
          <a:solidFill>
            <a:srgbClr val="1A2B4A">
              <a:alpha val="85000"/>
            </a:srgbClr>
          </a:solidFill>
          <a:ln w="12700">
            <a:solidFill>
              <a:srgbClr val="1A2B4A">
                <a:alpha val="85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054096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831336" y="29992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Penegakan (Enforcement)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831336" y="3346704"/>
            <a:ext cx="2176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untuk menegakkan prosedur kepada seluruh unit kerja. Tidak ada deployment production tanpa CAB approval. Wajib mengisi CSAT Survey pasca-resolusi tiket.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208776" y="2926080"/>
            <a:ext cx="28163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208776" y="2926080"/>
            <a:ext cx="54864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281928" y="3017520"/>
            <a:ext cx="402336" cy="402336"/>
          </a:xfrm>
          <a:prstGeom prst="ellipse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>
                <a:alpha val="85000"/>
              </a:srgbClr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054096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775704" y="29992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Anggaran &amp; Tools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775704" y="3346704"/>
            <a:ext cx="21762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anggaran untuk ITSM tools (helpdesk, KEDB system). Budget untuk awareness training ke seluruh unit kerja tentang cara pelaporan insiden dan CR yang benar.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D8A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Annex A.5.24–A.5.28 + ITIL 4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PO-ITS-107 — Pengelolaan Insiden Keamanan Informasi v3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Dicakup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023360" cy="530352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Acuan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27632" y="11887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A.5.24–A.5.28 + ITIL 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830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27632" y="17830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Network · Server/Cloud · App · Endpoint · IAM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023360" cy="530352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774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27632" y="23774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Assigned → In Progress → On Hold → Resolved → Closed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71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27632" y="297180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(Critical) → P2 (High) → P3 (Medium) → P4 (Low)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4023360" cy="530352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5661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27632" y="35661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PO-ITS-107 v3  |  Revisi R03.0326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Lifecycle Flow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1298448" cy="475488"/>
          </a:xfrm>
          <a:prstGeom prst="rect">
            <a:avLst/>
          </a:prstGeom>
          <a:solidFill>
            <a:srgbClr val="D1ECF1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11887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76" y="1298448"/>
            <a:ext cx="256032" cy="256032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080760" y="1188720"/>
            <a:ext cx="1298448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080760" y="11887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1298448"/>
            <a:ext cx="256032" cy="256032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498080" y="1188720"/>
            <a:ext cx="1298448" cy="475488"/>
          </a:xfrm>
          <a:prstGeom prst="rect">
            <a:avLst/>
          </a:prstGeom>
          <a:solidFill>
            <a:srgbClr val="CCE5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498080" y="11887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63440" y="2788920"/>
            <a:ext cx="1298448" cy="475488"/>
          </a:xfrm>
          <a:prstGeom prst="rect">
            <a:avLst/>
          </a:prstGeom>
          <a:solidFill>
            <a:srgbClr val="E2E3E5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663440" y="27889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10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898648"/>
            <a:ext cx="256032" cy="256032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6080760" y="2788920"/>
            <a:ext cx="1298448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6080760" y="27889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2898648"/>
            <a:ext cx="256032" cy="256032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498080" y="2788920"/>
            <a:ext cx="1298448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7498080" y="27889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663440" y="33649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 ↔ IN PROGRESS (SLA paused)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20040" y="4187952"/>
            <a:ext cx="8503920" cy="475488"/>
          </a:xfrm>
          <a:prstGeom prst="rect">
            <a:avLst/>
          </a:prstGeom>
          <a:solidFill>
            <a:srgbClr val="FFF9E6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279392"/>
            <a:ext cx="256032" cy="25603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49808" y="420624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ISO Finding #9 &amp; #10: FR-ITS-217 (Lessons Learned) kini MANDATORY untuk semua insiden. RCA 5-Whys + tindakan preventif wajib sebelum status Closed.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 — Incident &amp; Production Issue (ITIL 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1188720" cy="411480"/>
          </a:xfrm>
          <a:prstGeom prst="rect">
            <a:avLst/>
          </a:prstGeom>
          <a:solidFill>
            <a:srgbClr val="3D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749808"/>
            <a:ext cx="1280160" cy="411480"/>
          </a:xfrm>
          <a:prstGeom prst="rect">
            <a:avLst/>
          </a:prstGeom>
          <a:solidFill>
            <a:srgbClr val="3D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7498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HIGH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749808"/>
            <a:ext cx="1280160" cy="411480"/>
          </a:xfrm>
          <a:prstGeom prst="rect">
            <a:avLst/>
          </a:prstGeom>
          <a:solidFill>
            <a:srgbClr val="3D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7498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MEDIUM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749808"/>
            <a:ext cx="1280160" cy="411480"/>
          </a:xfrm>
          <a:prstGeom prst="rect">
            <a:avLst/>
          </a:prstGeom>
          <a:solidFill>
            <a:srgbClr val="3D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7498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161288"/>
            <a:ext cx="1188720" cy="713232"/>
          </a:xfrm>
          <a:prstGeom prst="rect">
            <a:avLst/>
          </a:prstGeom>
          <a:solidFill>
            <a:srgbClr val="3D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16128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08760" y="1161288"/>
            <a:ext cx="128016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116128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Critical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1161288"/>
            <a:ext cx="128016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16128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Critical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69080" y="1161288"/>
            <a:ext cx="1280160" cy="713232"/>
          </a:xfrm>
          <a:prstGeom prst="rect">
            <a:avLst/>
          </a:prstGeom>
          <a:solidFill>
            <a:srgbClr val="D459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116128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High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1874520"/>
            <a:ext cx="1188720" cy="713232"/>
          </a:xfrm>
          <a:prstGeom prst="rect">
            <a:avLst/>
          </a:prstGeom>
          <a:solidFill>
            <a:srgbClr val="3D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87452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08760" y="1874520"/>
            <a:ext cx="128016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18745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Critical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88920" y="1874520"/>
            <a:ext cx="1280160" cy="713232"/>
          </a:xfrm>
          <a:prstGeom prst="rect">
            <a:avLst/>
          </a:prstGeom>
          <a:solidFill>
            <a:srgbClr val="D459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18745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High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69080" y="1874520"/>
            <a:ext cx="1280160" cy="713232"/>
          </a:xfrm>
          <a:prstGeom prst="rect">
            <a:avLst/>
          </a:prstGeom>
          <a:solidFill>
            <a:srgbClr val="1F5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8745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Medium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587752"/>
            <a:ext cx="1188720" cy="713232"/>
          </a:xfrm>
          <a:prstGeom prst="rect">
            <a:avLst/>
          </a:prstGeom>
          <a:solidFill>
            <a:srgbClr val="3D5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58775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08760" y="2587752"/>
            <a:ext cx="1280160" cy="713232"/>
          </a:xfrm>
          <a:prstGeom prst="rect">
            <a:avLst/>
          </a:prstGeom>
          <a:solidFill>
            <a:srgbClr val="D459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8760" y="258775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High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88920" y="2587752"/>
            <a:ext cx="1280160" cy="713232"/>
          </a:xfrm>
          <a:prstGeom prst="rect">
            <a:avLst/>
          </a:prstGeom>
          <a:solidFill>
            <a:srgbClr val="1F5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258775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Medium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69080" y="2587752"/>
            <a:ext cx="1280160" cy="713232"/>
          </a:xfrm>
          <a:prstGeom prst="rect">
            <a:avLst/>
          </a:prstGeom>
          <a:solidFill>
            <a:srgbClr val="1E7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258775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Low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40" y="7498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 Priority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577840" y="1170432"/>
            <a:ext cx="1115568" cy="502920"/>
          </a:xfrm>
          <a:prstGeom prst="rect">
            <a:avLst/>
          </a:prstGeom>
          <a:solidFill>
            <a:srgbClr val="3D5A8A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1170432"/>
            <a:ext cx="11155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Parameter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93408" y="1170432"/>
            <a:ext cx="530352" cy="502920"/>
          </a:xfrm>
          <a:prstGeom prst="rect">
            <a:avLst/>
          </a:prstGeom>
          <a:solidFill>
            <a:srgbClr val="3D5A8A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93408" y="11704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23760" y="1170432"/>
            <a:ext cx="530352" cy="502920"/>
          </a:xfrm>
          <a:prstGeom prst="rect">
            <a:avLst/>
          </a:prstGeom>
          <a:solidFill>
            <a:srgbClr val="3D5A8A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11704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54112" y="1170432"/>
            <a:ext cx="530352" cy="502920"/>
          </a:xfrm>
          <a:prstGeom prst="rect">
            <a:avLst/>
          </a:prstGeom>
          <a:solidFill>
            <a:srgbClr val="3D5A8A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11704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84464" y="1170432"/>
            <a:ext cx="530352" cy="502920"/>
          </a:xfrm>
          <a:prstGeom prst="rect">
            <a:avLst/>
          </a:prstGeom>
          <a:solidFill>
            <a:srgbClr val="3D5A8A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4464" y="11704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77840" y="1673352"/>
            <a:ext cx="11155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1673352"/>
            <a:ext cx="11155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 Awal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93408" y="167335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93408" y="167335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23760" y="167335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167335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754112" y="167335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4112" y="167335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jam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284464" y="167335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84464" y="167335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77840" y="2176272"/>
            <a:ext cx="1115568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0" y="2176272"/>
            <a:ext cx="11155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Resolusi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693408" y="217627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93408" y="217627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jam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23760" y="217627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0" y="217627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754112" y="217627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54112" y="217627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284464" y="217627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84464" y="217627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577840" y="2679192"/>
            <a:ext cx="11155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2679192"/>
            <a:ext cx="11155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 Limit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693408" y="267919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93408" y="267919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jam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223760" y="267919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3760" y="267919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754112" y="267919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54112" y="267919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284464" y="267919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84464" y="267919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577840" y="3182112"/>
            <a:ext cx="1115568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77840" y="3182112"/>
            <a:ext cx="11155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693408" y="318211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93408" y="318211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223760" y="318211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23760" y="318211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Sarankan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754112" y="318211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54112" y="318211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Opsional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284464" y="3182112"/>
            <a:ext cx="530352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84464" y="318211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577840" y="3685032"/>
            <a:ext cx="11155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77840" y="3685032"/>
            <a:ext cx="11155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693408" y="368503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93408" y="36850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223760" y="368503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23760" y="36850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754112" y="368503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54112" y="36850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284464" y="3685032"/>
            <a:ext cx="5303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84464" y="3685032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&amp; Formulir Insiden — Sesuai Struktur Org ELI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— Penanganan Insiden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02920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/ Unit Kerja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1170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Melapor via IT Help Desk, isi FR-ITS-215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 Desk (First Responder)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231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Receive, kategorisasi, tetapkan priority P1–P4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502920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&amp; Governance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investigasi, koordinasi respons, PIR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96896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968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IT Infrastructure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25968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teknis infrastruktur &amp; network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72384"/>
            <a:ext cx="502920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72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Apps Development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23160" y="30723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teknis aplikasi &amp; DevSecOps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547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3547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P1, final approval eskalasi kritis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5029200" cy="457200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Risk Analysis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2316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risk assessment insiden berdampak tinggi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7772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Insiden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77840" y="117043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1170432"/>
            <a:ext cx="54864" cy="45720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170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FR-ITS-215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Insiden + Priority Matrix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77840" y="1645920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1645920"/>
            <a:ext cx="54864" cy="45720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FR-ITS-216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Komunikasi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2121408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2121408"/>
            <a:ext cx="54864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121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FR-ITS-217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0" y="2121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(RCA 5-Whys)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03920" y="2176272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2176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577840" y="259689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77840" y="2596896"/>
            <a:ext cx="54864" cy="4572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2596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FR-ITS-218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83680" y="25968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Barang Bukti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0" y="307238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3072384"/>
            <a:ext cx="54864" cy="4572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3072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FR-ITS-226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0" y="30723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Register  [BARU]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03920" y="3127248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0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577840" y="354787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3547872"/>
            <a:ext cx="54864" cy="4572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0" y="35478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FR-ITS-227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583680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Meeting Minutes  [BARU]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503920" y="3602736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03920" y="3602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577840" y="4023360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77840" y="4023360"/>
            <a:ext cx="54864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FR-ITS-228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58368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  [BARU]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D8A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Issue 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PO-ITS-108 v3 — ITIL 4 Priority Matrix + KEDB + CSAT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PO-ITS-108 — Alur Penanganan Production Issue v3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572768" cy="137160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777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Pelaporan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1572768" cy="502920"/>
          </a:xfrm>
          <a:prstGeom prst="rect">
            <a:avLst/>
          </a:prstGeom>
          <a:solidFill>
            <a:srgbClr val="1F5F8B">
              <a:alpha val="22000"/>
            </a:srgbClr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Kerja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096" y="118872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39112" y="777240"/>
            <a:ext cx="1572768" cy="13716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39112" y="777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039112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(P1–P4)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039112" y="2148840"/>
            <a:ext cx="1572768" cy="502920"/>
          </a:xfrm>
          <a:prstGeom prst="rect">
            <a:avLst/>
          </a:prstGeom>
          <a:solidFill>
            <a:srgbClr val="0D8A8A">
              <a:alpha val="22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39112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 Desk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1887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758184" y="777240"/>
            <a:ext cx="1572768" cy="1371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758184" y="777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758184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 / Hotfix)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758184" y="2148840"/>
            <a:ext cx="1572768" cy="502920"/>
          </a:xfrm>
          <a:prstGeom prst="rect">
            <a:avLst/>
          </a:prstGeom>
          <a:solidFill>
            <a:srgbClr val="E8A020">
              <a:alpha val="2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58184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Dev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188720"/>
            <a:ext cx="27432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477256" y="777240"/>
            <a:ext cx="1572768" cy="137160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477256" y="777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5477256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77256" y="2148840"/>
            <a:ext cx="1572768" cy="502920"/>
          </a:xfrm>
          <a:prstGeom prst="rect">
            <a:avLst/>
          </a:prstGeom>
          <a:solidFill>
            <a:srgbClr val="1E7E4A">
              <a:alpha val="22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7725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 Desk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Apps Dev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188720"/>
            <a:ext cx="274320" cy="2743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196328" y="777240"/>
            <a:ext cx="1572768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196328" y="777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7196328" y="12344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Penutupan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7196328" y="2148840"/>
            <a:ext cx="1572768" cy="502920"/>
          </a:xfrm>
          <a:prstGeom prst="rect">
            <a:avLst/>
          </a:prstGeom>
          <a:solidFill>
            <a:srgbClr val="1A2B4A">
              <a:alpha val="22000"/>
            </a:srgbClr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196328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 Desk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Sec&amp;Gov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20040" y="2788920"/>
            <a:ext cx="4160520" cy="1691640"/>
          </a:xfrm>
          <a:prstGeom prst="rect">
            <a:avLst/>
          </a:prstGeom>
          <a:solidFill>
            <a:srgbClr val="EEF4FB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20040" y="2788920"/>
            <a:ext cx="4160520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26080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41248" y="28529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Error Database (KEDB) — FR-ITS-226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7200" y="3200400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menerima tiket baru: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KEDB dulu. Jika ada workaround terdokumentasi → sampaikan ke user segera.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P1/P2 closed: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update KEDB dengan root cause, workaround, dan solusi permanen.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663440" y="2788920"/>
            <a:ext cx="4160520" cy="1691640"/>
          </a:xfrm>
          <a:prstGeom prst="rect">
            <a:avLst/>
          </a:prstGeom>
          <a:solidFill>
            <a:srgbClr val="EEF4FB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663440" y="2788920"/>
            <a:ext cx="41605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926080"/>
            <a:ext cx="320040" cy="32004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193792" y="28529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 — FR-ITS-228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4800600" y="3200400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Dikirim otomatis 1 jam setelah status </a:t>
            </a:r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1–5 skala, NPS question + open feedback.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CSAT ≥ 4.0/5.0  |  Skor &lt; 3.0 → tindak lanjut wajib.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D8A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&amp; CAB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PO-ITS-109 v3 + SK-CTIO-001/TID/III/2026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— 3 Jenis Change &amp; CAB Governance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816352" cy="475488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686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77724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252728"/>
            <a:ext cx="281635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13258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Digunakan: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9768" y="15727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Rutin, risiko rendah, prosedur baku. Contoh: patch bulanan, reset password admin.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9768" y="22860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9768" y="25420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IT DevSecOps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(tanpa rapat CAB)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3447288"/>
            <a:ext cx="2816352" cy="365760"/>
          </a:xfrm>
          <a:prstGeom prst="rect">
            <a:avLst/>
          </a:prstGeom>
          <a:solidFill>
            <a:srgbClr val="1E7E4A">
              <a:alpha val="12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344728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Langsung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64408" y="777240"/>
            <a:ext cx="2816352" cy="47548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868680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39896" y="77724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CHANGE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64408" y="1252728"/>
            <a:ext cx="281635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74136" y="13258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Digunakan: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74136" y="15727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Baru/tidak rutin, perlu review risiko &amp; dampak. Contoh: fitur baru, integrasi API.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74136" y="22860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Persetujuan: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74136" y="25420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(quorum 4 anggota)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CTIO jika High Impact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64408" y="3447288"/>
            <a:ext cx="2816352" cy="365760"/>
          </a:xfrm>
          <a:prstGeom prst="rect">
            <a:avLst/>
          </a:prstGeom>
          <a:solidFill>
            <a:srgbClr val="1F5F8B">
              <a:alpha val="12000"/>
            </a:srgbClr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64408" y="344728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CAB Meeting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Kamis 10:00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208776" y="777240"/>
            <a:ext cx="28163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868680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84264" y="77724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CHANGE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08776" y="1252728"/>
            <a:ext cx="281635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18504" y="13258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Digunakan: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318504" y="1572768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Darurat: system kritis down, zero-day aktif. Contoh: hotfix EOD gagal, CVE kritis.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318504" y="22860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Persetujuan: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318504" y="25420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ECAB via WA Group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(min. 3 approver, &lt;1 jam)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208776" y="3447288"/>
            <a:ext cx="2816352" cy="36576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08776" y="344728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&lt; 1 jam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320040" y="3913632"/>
            <a:ext cx="850392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02920" y="3931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 FREEZE PERIOD: Selama tutup buku, audit OJK/ISO, atau periode kritis bisnis — hanya Emergency Change yang diizinkan atas persetujuan CTIO. Pengumuman min. 5 hari kerja sebelumnya.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— Struktur, Keanggotaan &amp; Mekanisme (SK-CTIO-001)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0" y="777240"/>
            <a:ext cx="274320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777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CTIO — Pengawas Strategis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 approval High Impact / Tier 1 CR)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0" cy="201168"/>
          </a:xfrm>
          <a:prstGeom prst="line">
            <a:avLst/>
          </a:prstGeom>
          <a:noFill/>
          <a:ln w="19050">
            <a:solidFill>
              <a:srgbClr val="8A9B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847088"/>
            <a:ext cx="3200400" cy="5486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18470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CAB — Head of IT DevSecOps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1800" y="2395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 / Change Manager: IT Security &amp; Governance (Senior)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8503920" cy="0"/>
          </a:xfrm>
          <a:prstGeom prst="line">
            <a:avLst/>
          </a:prstGeom>
          <a:noFill/>
          <a:ln w="12700">
            <a:solidFill>
              <a:srgbClr val="DC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80360"/>
            <a:ext cx="28163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80360"/>
            <a:ext cx="54864" cy="71323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2935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Core System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91640" y="309981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0998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Wakil Ketua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64408" y="2880360"/>
            <a:ext cx="28163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2880360"/>
            <a:ext cx="54864" cy="71323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2935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IT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6008" y="309981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0998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08776" y="2880360"/>
            <a:ext cx="28163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2880360"/>
            <a:ext cx="54864" cy="71323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935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Apps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0376" y="309981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0376" y="30998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794760"/>
            <a:ext cx="28163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94760"/>
            <a:ext cx="54864" cy="71323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3849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Data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91640" y="401421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4014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4408" y="3794760"/>
            <a:ext cx="28163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3794760"/>
            <a:ext cx="54864" cy="7132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2424" y="3849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Risk Analysis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(undangan)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36008" y="401421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4014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08776" y="3794760"/>
            <a:ext cx="28163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3794760"/>
            <a:ext cx="54864" cy="7132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3849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Manajer Unit Terdampak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(undangan)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80376" y="401421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0376" y="4014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Change — Alur 6 Tahap &amp; Change Calendar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1335024" cy="100584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7772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CR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783080"/>
            <a:ext cx="1335024" cy="502920"/>
          </a:xfrm>
          <a:prstGeom prst="rect">
            <a:avLst/>
          </a:prstGeom>
          <a:solidFill>
            <a:srgbClr val="1F5F8B">
              <a:alpha val="18000"/>
            </a:srgbClr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7830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FR-ITS-222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Pemohon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1078992"/>
            <a:ext cx="219456" cy="2194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719072" y="777240"/>
            <a:ext cx="1335024" cy="10058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719072" y="7772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719072" y="107899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CAB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719072" y="1783080"/>
            <a:ext cx="1335024" cy="502920"/>
          </a:xfrm>
          <a:prstGeom prst="rect">
            <a:avLst/>
          </a:prstGeom>
          <a:solidFill>
            <a:srgbClr val="0D8A8A">
              <a:alpha val="18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19072" y="17830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Meeting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Kamis</a:t>
            </a:r>
            <a:endParaRPr lang="en-US" sz="8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1078992"/>
            <a:ext cx="219456" cy="219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82112" y="777240"/>
            <a:ext cx="1335024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182112" y="7772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3182112" y="107899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182112" y="1783080"/>
            <a:ext cx="1335024" cy="502920"/>
          </a:xfrm>
          <a:prstGeom prst="rect">
            <a:avLst/>
          </a:prstGeom>
          <a:solidFill>
            <a:srgbClr val="E8A020">
              <a:alpha val="18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82112" y="17830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Apps Dev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</a:t>
            </a:r>
            <a:endParaRPr lang="en-US" sz="8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078992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645152" y="777240"/>
            <a:ext cx="1335024" cy="1005840"/>
          </a:xfrm>
          <a:prstGeom prst="rect">
            <a:avLst/>
          </a:prstGeom>
          <a:solidFill>
            <a:srgbClr val="D4590A"/>
          </a:solidFill>
          <a:ln w="12700">
            <a:solidFill>
              <a:srgbClr val="D459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645152" y="7772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4645152" y="107899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645152" y="1783080"/>
            <a:ext cx="1335024" cy="502920"/>
          </a:xfrm>
          <a:prstGeom prst="rect">
            <a:avLst/>
          </a:prstGeom>
          <a:solidFill>
            <a:srgbClr val="D4590A">
              <a:alpha val="18000"/>
            </a:srgbClr>
          </a:solidFill>
          <a:ln w="12700">
            <a:solidFill>
              <a:srgbClr val="D4590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645152" y="17830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 Desk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45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Lead Dev</a:t>
            </a:r>
            <a:endParaRPr lang="en-US" sz="8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078992"/>
            <a:ext cx="219456" cy="21945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108192" y="777240"/>
            <a:ext cx="1335024" cy="100584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108192" y="7772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6108192" y="107899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UAT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108192" y="1783080"/>
            <a:ext cx="1335024" cy="502920"/>
          </a:xfrm>
          <a:prstGeom prst="rect">
            <a:avLst/>
          </a:prstGeom>
          <a:solidFill>
            <a:srgbClr val="1E7E4A">
              <a:alpha val="18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08192" y="17830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+ Pemohon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5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078992"/>
            <a:ext cx="219456" cy="219456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571232" y="777240"/>
            <a:ext cx="1335024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7571232" y="7772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7571232" y="107899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Penutupan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7571232" y="1783080"/>
            <a:ext cx="1335024" cy="502920"/>
          </a:xfrm>
          <a:prstGeom prst="rect">
            <a:avLst/>
          </a:prstGeom>
          <a:solidFill>
            <a:srgbClr val="1A2B4A">
              <a:alpha val="18000"/>
            </a:srgbClr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571232" y="17830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FR-ITS-229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256032" y="2450592"/>
            <a:ext cx="4297680" cy="2176272"/>
          </a:xfrm>
          <a:prstGeom prst="rect">
            <a:avLst/>
          </a:prstGeom>
          <a:solidFill>
            <a:srgbClr val="EEF4FB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56032" y="2450592"/>
            <a:ext cx="4297680" cy="548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84048" y="2542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Meeting — Mekanisme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384048" y="2907792"/>
            <a:ext cx="4069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Setiap Kamis 10:00–11:30 WIB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Quorum: 4 anggota tetap incl. Ketua / Wakil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Agenda dikirim Selasa (H-2)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ECAB via WA Group, min. 3 approver, &lt; 1 jam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   Freeze Period: 5 hari kerja notifikasi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Monthly report → CTIO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4736592" y="2450592"/>
            <a:ext cx="4087368" cy="2176272"/>
          </a:xfrm>
          <a:prstGeom prst="rect">
            <a:avLst/>
          </a:prstGeom>
          <a:solidFill>
            <a:srgbClr val="EEF4FB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4736592" y="2450592"/>
            <a:ext cx="408736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864608" y="25420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Calendar — Koordinasi Jadwal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4736592" y="2880360"/>
            <a:ext cx="40873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736592" y="2880360"/>
            <a:ext cx="54864" cy="402336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846320" y="28803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5687568" y="288036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Meeting (review CR bulan ini)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4736592" y="3300984"/>
            <a:ext cx="4087368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4736592" y="3300984"/>
            <a:ext cx="54864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846320" y="33009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5687568" y="33009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window — medium impact CR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4736592" y="3721608"/>
            <a:ext cx="40873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4736592" y="3721608"/>
            <a:ext cx="54864" cy="402336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4846320" y="37216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5687568" y="37216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Meeting + Standard Change window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4736592" y="4142232"/>
            <a:ext cx="4087368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4736592" y="4142232"/>
            <a:ext cx="54864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4846320" y="4142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5687568" y="414223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window + Monthly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D8A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— IT Tier Governance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Tier 1 / 2 / 3 &amp; Steering Committee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Project Tier Classification &amp; Governance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1920240" cy="12344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ENTERPRISE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&gt; Rp 500 juta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Dampak: Seluruh perusahaan / Core Business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8595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Core system baru, migrasi data center, platform digital baru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1207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Board of Directors + Komite Pengelola TI + CAB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Steering: Wajib — Direksi terkait sebagai Steering Committee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23560" y="12070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Bulanan ke 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157984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57984"/>
            <a:ext cx="1920240" cy="123444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57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DEPARTMENTAL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6151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Rp 50–500 juta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9077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Dampak: Satu atau beberapa direktorat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31720" y="2212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Modul baru, integrasi sistem eksternal besar, platform analytics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Direksi terkait + CTIO + CAB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31720" y="2907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Steering: Disarankan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2356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Dua mingguan ke Direksi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11296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11296"/>
            <a:ext cx="1920240" cy="12344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112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OPERATIONAL CR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9684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&lt; Rp 50 juta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2611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Dampak: Tim atau proses spesifik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31720" y="3566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Penambahan fitur, optimasi query, perubahan konfigurasi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31720" y="3913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CTIO + CAB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Steering: Tidak perlu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39136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Mingguan di CAB status update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D8A8A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Metrics &amp; Improvement Roadmap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bulan 1 → Target 3 bulan → Sustainable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— IT Governance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029968" cy="4572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961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2029968" cy="502920"/>
          </a:xfrm>
          <a:prstGeom prst="rect">
            <a:avLst/>
          </a:prstGeom>
          <a:solidFill>
            <a:srgbClr val="1F5F8B">
              <a:alpha val="10000"/>
            </a:srgbClr>
          </a:solidFill>
          <a:ln w="12700">
            <a:solidFill>
              <a:srgbClr val="1F5F8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6654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80467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804672"/>
            <a:ext cx="2029968" cy="457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8961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4.0/5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1554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Score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0" y="2039112"/>
            <a:ext cx="2029968" cy="502920"/>
          </a:xfrm>
          <a:prstGeom prst="rect">
            <a:avLst/>
          </a:prstGeom>
          <a:solidFill>
            <a:srgbClr val="0D8A8A">
              <a:alpha val="10000"/>
            </a:srgbClr>
          </a:solidFill>
          <a:ln w="12700">
            <a:solidFill>
              <a:srgbClr val="0D8A8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06654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80467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804672"/>
            <a:ext cx="2029968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8961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jam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17720" y="1554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P1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039112"/>
            <a:ext cx="2029968" cy="502920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06654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80467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804672"/>
            <a:ext cx="202996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89611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66560" y="1554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CR 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66560" y="2039112"/>
            <a:ext cx="2029968" cy="502920"/>
          </a:xfrm>
          <a:prstGeom prst="rect">
            <a:avLst/>
          </a:prstGeom>
          <a:solidFill>
            <a:srgbClr val="E8A020">
              <a:alpha val="1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06654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72491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724912"/>
            <a:ext cx="2029968" cy="4572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8163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20040" y="347472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Completion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959352"/>
            <a:ext cx="2029968" cy="502920"/>
          </a:xfrm>
          <a:prstGeom prst="rect">
            <a:avLst/>
          </a:prstGeom>
          <a:solidFill>
            <a:srgbClr val="1E7E4A">
              <a:alpha val="10000"/>
            </a:srgbClr>
          </a:solidFill>
          <a:ln w="12700">
            <a:solidFill>
              <a:srgbClr val="1E7E4A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986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0" y="272491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68880" y="2724912"/>
            <a:ext cx="2029968" cy="45720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28163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468880" y="347472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Util (P1/P2)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68880" y="3959352"/>
            <a:ext cx="2029968" cy="502920"/>
          </a:xfrm>
          <a:prstGeom prst="rect">
            <a:avLst/>
          </a:prstGeom>
          <a:solidFill>
            <a:srgbClr val="1F5F8B">
              <a:alpha val="10000"/>
            </a:srgbClr>
          </a:solidFill>
          <a:ln w="12700">
            <a:solidFill>
              <a:srgbClr val="1F5F8B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3986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272491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17720" y="2724912"/>
            <a:ext cx="2029968" cy="457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28163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617720" y="347472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Success Rate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3959352"/>
            <a:ext cx="2029968" cy="502920"/>
          </a:xfrm>
          <a:prstGeom prst="rect">
            <a:avLst/>
          </a:prstGeom>
          <a:solidFill>
            <a:srgbClr val="0D8A8A">
              <a:alpha val="10000"/>
            </a:srgbClr>
          </a:solidFill>
          <a:ln w="12700">
            <a:solidFill>
              <a:srgbClr val="0D8A8A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986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2724912"/>
            <a:ext cx="20299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66560" y="2724912"/>
            <a:ext cx="2029968" cy="45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281635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6766560" y="347472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Rate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766560" y="3959352"/>
            <a:ext cx="2029968" cy="502920"/>
          </a:xfrm>
          <a:prstGeom prst="rect">
            <a:avLst/>
          </a:prstGeom>
          <a:solidFill>
            <a:srgbClr val="1A2B4A">
              <a:alpha val="10000"/>
            </a:srgbClr>
          </a:solidFill>
          <a:ln w="12700">
            <a:solidFill>
              <a:srgbClr val="1A2B4A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39867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ini: Baseline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3 Fase (Q1–Q3 2026)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81635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FONDASI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Maret–April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07592"/>
            <a:ext cx="281635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5389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89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Pengesahan SK-CTIO-001 (Pembentukan CAB)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93852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Sosialisasi PO-ITS-107/108/109 v3 ke seluruh tim 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CAB Meeting pertama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0779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437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IT Help Desk sebagai single point of contact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39242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Sosialisasi cara pelaporan insiden &amp; CR ke unit kerja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87705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13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metrics bulan pertama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777240"/>
            <a:ext cx="2816352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7772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OPERASIONAL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64408" y="109728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Mei–Juni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1307592"/>
            <a:ext cx="281635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1453896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1389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mulai diisi (semua P1/P2 setelah closed)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5848" y="1938528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Meeting rutin P1/P2 (form FR-ITS-227)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5848" y="2423160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Survey aktif (FR-ITS-228 terkirim otomatis)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55848" y="2907792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28437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Change &amp; Incident Review Meeting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55848" y="3392424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SLA compliance ≥ 75% di bulan 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55848" y="3877056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0168" y="3813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efektivitas Priority Matrix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08776" y="777240"/>
            <a:ext cx="2816352" cy="53035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7772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MATURE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08776" y="109728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Juli–September 2026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08776" y="1307592"/>
            <a:ext cx="281635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0216" y="1453896"/>
            <a:ext cx="201168" cy="201168"/>
          </a:xfrm>
          <a:prstGeom prst="ellipse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1389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update KEDB: entri berkualitas tinggi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0216" y="1938528"/>
            <a:ext cx="201168" cy="201168"/>
          </a:xfrm>
          <a:prstGeom prst="ellipse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4536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≥ 90%, CSAT ≥ 4.0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0216" y="2423160"/>
            <a:ext cx="201168" cy="201168"/>
          </a:xfrm>
          <a:prstGeom prst="ellipse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4536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Change Rate &lt; 10%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00216" y="2907792"/>
            <a:ext cx="201168" cy="201168"/>
          </a:xfrm>
          <a:prstGeom prst="ellipse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74536" y="28437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→ update SOP jika ada gap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0216" y="3392424"/>
            <a:ext cx="201168" cy="201168"/>
          </a:xfrm>
          <a:prstGeom prst="ellipse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74536" y="3328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audit ISO 27001:2022 surveillance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0216" y="3877056"/>
            <a:ext cx="201168" cy="201168"/>
          </a:xfrm>
          <a:prstGeom prst="ellipse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74536" y="3813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ke Komite Pengelola TI: maturity level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Penutupan ISO 27001:2022 Findings — Incident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Kritis yang Ditutup oleh Dokumen v3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07008"/>
            <a:ext cx="640080" cy="777240"/>
          </a:xfrm>
          <a:prstGeom prst="rect">
            <a:avLst/>
          </a:prstGeom>
          <a:solidFill>
            <a:srgbClr val="1E7E4A">
              <a:alpha val="90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1252728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Form — Severity Level &amp; Lessons Learned Tidak Ada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24128" y="1572768"/>
            <a:ext cx="5376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FR-ITS-215 v3: Priority Matrix P1–P4 (impact × urgency).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FR-ITS-217: Lessons Learned MANDATORY, RCA 5-Whys, tindakan preventif, sign-off CTIO.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389888"/>
            <a:ext cx="1645920" cy="4114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1463040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13898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05740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057400"/>
            <a:ext cx="640080" cy="777240"/>
          </a:xfrm>
          <a:prstGeom prst="rect">
            <a:avLst/>
          </a:prstGeom>
          <a:solidFill>
            <a:srgbClr val="1E7E4A">
              <a:alpha val="90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0574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24128" y="210312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Insiden Virus ITINC/24/06/001 — Tidak Ada Lessons Learned Documentation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24128" y="2423160"/>
            <a:ext cx="5376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FR-ITS-217 wajib diisi sebelum setiap insiden di-Close, termasuk retroaktif review untuk insiden yang belum terdokumentasi.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0" y="2240280"/>
            <a:ext cx="1645920" cy="4114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313432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03720" y="2240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0040" y="2907792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0040" y="2907792"/>
            <a:ext cx="640080" cy="777240"/>
          </a:xfrm>
          <a:prstGeom prst="rect">
            <a:avLst/>
          </a:prstGeom>
          <a:solidFill>
            <a:srgbClr val="1E7E4A">
              <a:alpha val="90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290779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A.8.32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024128" y="2953512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Formal Belum Ada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024128" y="3273552"/>
            <a:ext cx="5376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PO-ITS-109 v3 + SK-CTIO-001: Change Management prosedur lengkap dengan CAB, Emergency Change, dan Change Calendar.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583680" y="3090672"/>
            <a:ext cx="1645920" cy="4114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163824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03720" y="30906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20040" y="3758184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0040" y="3758184"/>
            <a:ext cx="640080" cy="777240"/>
          </a:xfrm>
          <a:prstGeom prst="rect">
            <a:avLst/>
          </a:prstGeom>
          <a:solidFill>
            <a:srgbClr val="1E7E4A">
              <a:alpha val="90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20040" y="375818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1024128" y="3803904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Prosedur Terdokumentasi untuk Priority &amp; Escalation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024128" y="4123944"/>
            <a:ext cx="5376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 P1–P4 di PO-ITS-107 &amp; PO-ITS-108. Escalation path formal CTIO → Head DevSecOps → IT Help Desk.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583680" y="3941064"/>
            <a:ext cx="1645920" cy="4114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14216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03720" y="39410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E7E4A">
              <a:alpha val="12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57200" y="46360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 Findings kritis terkait Incident &amp; Change Management — semua tertutup oleh PO-ITS-107/108/109 v3, SK-CTIO-001, dan formulir FR-ITS-215/217/226/227/228.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— Keputusan &amp; Tindakan yang Dibutuhkan Segera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Equity Life Indonesia  |  Technology &amp; Information Directorate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 hal-hal yang memerlukan keputusan / tanda tangan dari Top Management untuk memulai implementasi: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07008"/>
            <a:ext cx="54864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335024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SEGERA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44752" y="124358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Tandatangani SK-CTIO-001/TID/III/2026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44752" y="149961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CAB resmi. Tanpa SK ini, CAB tidak memiliki landasan hukum dan authority.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39712" y="1298448"/>
            <a:ext cx="1463040" cy="347472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129844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CTIO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0136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801368"/>
            <a:ext cx="54864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1929384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929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SEGERA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44752" y="183794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Tandatangani &amp; endorsement PO-ITS-107/108/109 v3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44752" y="209397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Sahkan sebagai kebijakan resmi PT Equity Life Indonesia yang mengikat seluruh unit kerja.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39712" y="1892808"/>
            <a:ext cx="1463040" cy="347472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89280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CTIO + Risk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39572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395728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2523744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523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44752" y="243230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anggota CAB secara formal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44752" y="268833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penugasan ke Head of IT DevSecOps (Ketua), IT Security &amp; Governance (Change Manager), dan anggota tetap lainnya.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39712" y="2487168"/>
            <a:ext cx="1463040" cy="347472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24871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CTIO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99008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990088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3118104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118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444752" y="302666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Jadwalkan CAB Meeting pertama + Kick-off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44752" y="328269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jadwal Kamis rutin yang fixed. Undang semua anggota + presentasi ke unit bisnis terdampak.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39712" y="3081528"/>
            <a:ext cx="1463040" cy="347472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308152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Head DevSecOps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58444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584448"/>
            <a:ext cx="54864" cy="530352"/>
          </a:xfrm>
          <a:prstGeom prst="rect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3712464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712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444752" y="362102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ke semua Direktur terkait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444752" y="387705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Informasikan kepada Business, Operation, Finance, dan HC Directorate tentang kewajiban mengikuti prosedur CR dan pelaporan insiden.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39712" y="3675888"/>
            <a:ext cx="1463040" cy="347472"/>
          </a:xfrm>
          <a:prstGeom prst="rect">
            <a:avLst/>
          </a:prstGeom>
          <a:solidFill>
            <a:srgbClr val="1F5F8B">
              <a:alpha val="15000"/>
            </a:srgbClr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6288" y="367588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CTIO + Direksi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1788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178808"/>
            <a:ext cx="54864" cy="53035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8912" y="4306824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4306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444752" y="4215384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Monthly IT Governance Report pertama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444752" y="447141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Komitmen hadir atau mendelegasikan dalam Monthly Change &amp; Incident Review meeting sebagai accountability forum.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39712" y="4270248"/>
            <a:ext cx="1463040" cy="347472"/>
          </a:xfrm>
          <a:prstGeom prst="rect">
            <a:avLst/>
          </a:prstGeom>
          <a:solidFill>
            <a:srgbClr val="1E7E4A">
              <a:alpha val="15000"/>
            </a:srgbClr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6288" y="427024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CTIO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1F5F8B">
              <a:alpha val="70000"/>
            </a:srgbClr>
          </a:solidFill>
          <a:ln w="12700">
            <a:solidFill>
              <a:srgbClr val="1F5F8B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ini dibangun untuk PT Equity Life Indonesia yang lebih resilient,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tertib, dan siap menghadapi audit ISO 27001:2022.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724912"/>
            <a:ext cx="2743200" cy="1234440"/>
          </a:xfrm>
          <a:prstGeom prst="rect">
            <a:avLst/>
          </a:prstGeom>
          <a:solidFill>
            <a:srgbClr val="1F5F8B">
              <a:alpha val="40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Kebijakan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PO + 1 SK + 1 Forms)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2724912"/>
            <a:ext cx="2743200" cy="1234440"/>
          </a:xfrm>
          <a:prstGeom prst="rect">
            <a:avLst/>
          </a:prstGeom>
          <a:solidFill>
            <a:srgbClr val="1F5F8B">
              <a:alpha val="40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9272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Siap Pakai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(FR-ITS-215 s/d 229)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7064" y="2724912"/>
            <a:ext cx="2743200" cy="1234440"/>
          </a:xfrm>
          <a:prstGeom prst="rect">
            <a:avLst/>
          </a:prstGeom>
          <a:solidFill>
            <a:srgbClr val="1F5F8B">
              <a:alpha val="40000"/>
            </a:srgbClr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27064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Berlaku semua tiket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4622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Information Directorate  ·  PT Equity Life Indonesia  ·  Maret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Governance Framework — PT Equity Life Indonesia</dc:title>
  <dc:subject>PptxGenJS Presentation</dc:subject>
  <dc:creator>Technology &amp; Information Directorate</dc:creator>
  <cp:lastModifiedBy>Technology &amp; Information Directorate</cp:lastModifiedBy>
  <cp:revision>1</cp:revision>
  <dcterms:created xsi:type="dcterms:W3CDTF">2026-03-16T04:54:32Z</dcterms:created>
  <dcterms:modified xsi:type="dcterms:W3CDTF">2026-03-16T04:54:32Z</dcterms:modified>
</cp:coreProperties>
</file>