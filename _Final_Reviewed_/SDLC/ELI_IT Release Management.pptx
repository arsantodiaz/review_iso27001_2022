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6"/>
  </p:notesMasterIdLst>
  <p:sldIdLst>
    <p:sldId id="718" r:id="rId6"/>
    <p:sldId id="815" r:id="rId7"/>
    <p:sldId id="823" r:id="rId8"/>
    <p:sldId id="819" r:id="rId9"/>
    <p:sldId id="764" r:id="rId10"/>
    <p:sldId id="820" r:id="rId11"/>
    <p:sldId id="824" r:id="rId12"/>
    <p:sldId id="825" r:id="rId13"/>
    <p:sldId id="826" r:id="rId14"/>
    <p:sldId id="82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pos="7464" userDrawn="1">
          <p15:clr>
            <a:srgbClr val="A4A3A4"/>
          </p15:clr>
        </p15:guide>
        <p15:guide id="4" orient="horz" pos="1056" userDrawn="1">
          <p15:clr>
            <a:srgbClr val="A4A3A4"/>
          </p15:clr>
        </p15:guide>
        <p15:guide id="5" pos="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B24"/>
    <a:srgbClr val="8EB21E"/>
    <a:srgbClr val="D8B11D"/>
    <a:srgbClr val="E97132"/>
    <a:srgbClr val="408E1C"/>
    <a:srgbClr val="FFFFFF"/>
    <a:srgbClr val="92D050"/>
    <a:srgbClr val="83CCEB"/>
    <a:srgbClr val="00B050"/>
    <a:srgbClr val="FBE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3D9BC-A86B-422B-8C0C-8597184DF867}" v="8" dt="2026-03-10T04:31:06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74" autoAdjust="0"/>
  </p:normalViewPr>
  <p:slideViewPr>
    <p:cSldViewPr snapToGrid="0">
      <p:cViewPr varScale="1">
        <p:scale>
          <a:sx n="69" d="100"/>
          <a:sy n="69" d="100"/>
        </p:scale>
        <p:origin x="1128" y="67"/>
      </p:cViewPr>
      <p:guideLst>
        <p:guide orient="horz" pos="744"/>
        <p:guide pos="192"/>
        <p:guide pos="7464"/>
        <p:guide orient="horz" pos="1056"/>
        <p:guide pos="7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516A5E-874F-46BA-8AB8-B7AEA37B562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D"/>
        </a:p>
      </dgm:t>
    </dgm:pt>
    <dgm:pt modelId="{C2082DCD-F991-4C81-95F3-14F71DC58D44}">
      <dgm:prSet phldrT="[Text]" phldr="0" custT="1"/>
      <dgm:spPr/>
      <dgm:t>
        <a:bodyPr/>
        <a:lstStyle/>
        <a:p>
          <a:r>
            <a:rPr lang="en-US" sz="1800" dirty="0"/>
            <a:t>Release Planning</a:t>
          </a:r>
          <a:endParaRPr lang="en-ID" sz="1800" dirty="0"/>
        </a:p>
      </dgm:t>
    </dgm:pt>
    <dgm:pt modelId="{1654E94D-F0AE-46B6-8DB1-DF15DC5EEE3D}" type="parTrans" cxnId="{EC61409B-E2D3-40EC-B459-44CA7A5CCC55}">
      <dgm:prSet/>
      <dgm:spPr/>
      <dgm:t>
        <a:bodyPr/>
        <a:lstStyle/>
        <a:p>
          <a:endParaRPr lang="en-ID"/>
        </a:p>
      </dgm:t>
    </dgm:pt>
    <dgm:pt modelId="{788E00A5-4B7A-4FD0-BD96-4E136D670546}" type="sibTrans" cxnId="{EC61409B-E2D3-40EC-B459-44CA7A5CCC55}">
      <dgm:prSet/>
      <dgm:spPr>
        <a:solidFill>
          <a:srgbClr val="E97132"/>
        </a:solidFill>
        <a:ln>
          <a:noFill/>
        </a:ln>
      </dgm:spPr>
      <dgm:t>
        <a:bodyPr/>
        <a:lstStyle/>
        <a:p>
          <a:endParaRPr lang="en-ID"/>
        </a:p>
      </dgm:t>
    </dgm:pt>
    <dgm:pt modelId="{F34DE6C5-92E5-4C72-A892-614B4E92B674}">
      <dgm:prSet phldrT="[Text]" phldr="0" custT="1"/>
      <dgm:spPr/>
      <dgm:t>
        <a:bodyPr/>
        <a:lstStyle/>
        <a:p>
          <a:r>
            <a:rPr lang="en-US" sz="1800" dirty="0"/>
            <a:t>Release Verification</a:t>
          </a:r>
          <a:endParaRPr lang="en-ID" sz="1800" dirty="0"/>
        </a:p>
      </dgm:t>
    </dgm:pt>
    <dgm:pt modelId="{C66BF782-EEF5-4935-B192-E8B5A27DF730}" type="parTrans" cxnId="{CA83FE94-BAFC-41A5-8920-F6BBAEAF4487}">
      <dgm:prSet/>
      <dgm:spPr/>
      <dgm:t>
        <a:bodyPr/>
        <a:lstStyle/>
        <a:p>
          <a:endParaRPr lang="en-ID"/>
        </a:p>
      </dgm:t>
    </dgm:pt>
    <dgm:pt modelId="{5C172237-3D6F-4ABC-8DAB-9679B421EAEB}" type="sibTrans" cxnId="{CA83FE94-BAFC-41A5-8920-F6BBAEAF4487}">
      <dgm:prSet/>
      <dgm:spPr>
        <a:solidFill>
          <a:srgbClr val="D8B11D"/>
        </a:solidFill>
        <a:ln>
          <a:noFill/>
        </a:ln>
      </dgm:spPr>
      <dgm:t>
        <a:bodyPr/>
        <a:lstStyle/>
        <a:p>
          <a:endParaRPr lang="en-ID"/>
        </a:p>
      </dgm:t>
    </dgm:pt>
    <dgm:pt modelId="{0F4C1EE4-EA64-47F9-9FC4-F4647C483812}">
      <dgm:prSet phldrT="[Text]" phldr="0" custT="1"/>
      <dgm:spPr/>
      <dgm:t>
        <a:bodyPr/>
        <a:lstStyle/>
        <a:p>
          <a:r>
            <a:rPr lang="en-US" sz="1800" dirty="0"/>
            <a:t>Release Deployment</a:t>
          </a:r>
          <a:endParaRPr lang="en-ID" sz="1800" dirty="0"/>
        </a:p>
      </dgm:t>
    </dgm:pt>
    <dgm:pt modelId="{233F684F-92F7-4224-A0F0-0E2CB5E81A23}" type="parTrans" cxnId="{4936BD8F-E5E0-4DCD-9CFB-4A61D81E8635}">
      <dgm:prSet/>
      <dgm:spPr/>
      <dgm:t>
        <a:bodyPr/>
        <a:lstStyle/>
        <a:p>
          <a:endParaRPr lang="en-ID"/>
        </a:p>
      </dgm:t>
    </dgm:pt>
    <dgm:pt modelId="{6B867FC5-0CB8-47B6-9713-9855125E4B24}" type="sibTrans" cxnId="{4936BD8F-E5E0-4DCD-9CFB-4A61D81E8635}">
      <dgm:prSet/>
      <dgm:spPr>
        <a:solidFill>
          <a:srgbClr val="8EB21E"/>
        </a:solidFill>
        <a:ln>
          <a:noFill/>
        </a:ln>
      </dgm:spPr>
      <dgm:t>
        <a:bodyPr/>
        <a:lstStyle/>
        <a:p>
          <a:endParaRPr lang="en-ID"/>
        </a:p>
      </dgm:t>
    </dgm:pt>
    <dgm:pt modelId="{2F2E33BB-BDF7-45F1-82F3-9540FC47F758}">
      <dgm:prSet custT="1"/>
      <dgm:spPr/>
      <dgm:t>
        <a:bodyPr/>
        <a:lstStyle/>
        <a:p>
          <a:r>
            <a:rPr lang="en-US" sz="1800" dirty="0"/>
            <a:t>Early Life Support</a:t>
          </a:r>
          <a:endParaRPr lang="en-ID" sz="1800" dirty="0"/>
        </a:p>
      </dgm:t>
    </dgm:pt>
    <dgm:pt modelId="{8A8915F1-9F6E-4FD9-AC66-A4607C146717}" type="parTrans" cxnId="{7CBFEDA6-E069-4E85-96D4-9AF92E037369}">
      <dgm:prSet/>
      <dgm:spPr/>
      <dgm:t>
        <a:bodyPr/>
        <a:lstStyle/>
        <a:p>
          <a:endParaRPr lang="en-ID"/>
        </a:p>
      </dgm:t>
    </dgm:pt>
    <dgm:pt modelId="{0E207216-76FE-479A-BD91-9E95680913FB}" type="sibTrans" cxnId="{7CBFEDA6-E069-4E85-96D4-9AF92E037369}">
      <dgm:prSet/>
      <dgm:spPr>
        <a:solidFill>
          <a:srgbClr val="408E1C"/>
        </a:solidFill>
        <a:ln>
          <a:noFill/>
        </a:ln>
      </dgm:spPr>
      <dgm:t>
        <a:bodyPr/>
        <a:lstStyle/>
        <a:p>
          <a:endParaRPr lang="en-ID"/>
        </a:p>
      </dgm:t>
    </dgm:pt>
    <dgm:pt modelId="{C7EF76C5-E7AC-4B3E-95D0-DBC4ED424128}">
      <dgm:prSet custT="1"/>
      <dgm:spPr/>
      <dgm:t>
        <a:bodyPr/>
        <a:lstStyle/>
        <a:p>
          <a:r>
            <a:rPr lang="en-US" sz="1800" dirty="0"/>
            <a:t>Release Closure</a:t>
          </a:r>
          <a:endParaRPr lang="en-ID" sz="1800" dirty="0"/>
        </a:p>
      </dgm:t>
    </dgm:pt>
    <dgm:pt modelId="{D3D693C6-C6A5-4233-A94F-4F0AA4B41DF0}" type="parTrans" cxnId="{DFF30336-A996-44B0-B36C-991F756B3A2E}">
      <dgm:prSet/>
      <dgm:spPr/>
      <dgm:t>
        <a:bodyPr/>
        <a:lstStyle/>
        <a:p>
          <a:endParaRPr lang="en-ID"/>
        </a:p>
      </dgm:t>
    </dgm:pt>
    <dgm:pt modelId="{B3B1FBD1-756C-4488-A9D2-E67A80121212}" type="sibTrans" cxnId="{DFF30336-A996-44B0-B36C-991F756B3A2E}">
      <dgm:prSet/>
      <dgm:spPr/>
      <dgm:t>
        <a:bodyPr/>
        <a:lstStyle/>
        <a:p>
          <a:endParaRPr lang="en-ID"/>
        </a:p>
      </dgm:t>
    </dgm:pt>
    <dgm:pt modelId="{85810C3E-0077-40F6-A400-093F3C98D091}" type="pres">
      <dgm:prSet presAssocID="{D6516A5E-874F-46BA-8AB8-B7AEA37B562A}" presName="outerComposite" presStyleCnt="0">
        <dgm:presLayoutVars>
          <dgm:chMax val="5"/>
          <dgm:dir/>
          <dgm:resizeHandles val="exact"/>
        </dgm:presLayoutVars>
      </dgm:prSet>
      <dgm:spPr/>
    </dgm:pt>
    <dgm:pt modelId="{BF263032-2EDD-4610-AEF7-CE8C1ED7BDDE}" type="pres">
      <dgm:prSet presAssocID="{D6516A5E-874F-46BA-8AB8-B7AEA37B562A}" presName="dummyMaxCanvas" presStyleCnt="0">
        <dgm:presLayoutVars/>
      </dgm:prSet>
      <dgm:spPr/>
    </dgm:pt>
    <dgm:pt modelId="{CFA2676A-81EB-4A70-A7A7-C55EE38C784F}" type="pres">
      <dgm:prSet presAssocID="{D6516A5E-874F-46BA-8AB8-B7AEA37B562A}" presName="FiveNodes_1" presStyleLbl="node1" presStyleIdx="0" presStyleCnt="5">
        <dgm:presLayoutVars>
          <dgm:bulletEnabled val="1"/>
        </dgm:presLayoutVars>
      </dgm:prSet>
      <dgm:spPr/>
    </dgm:pt>
    <dgm:pt modelId="{4CE1D454-683D-44EA-8170-87C4C3EDD1BA}" type="pres">
      <dgm:prSet presAssocID="{D6516A5E-874F-46BA-8AB8-B7AEA37B562A}" presName="FiveNodes_2" presStyleLbl="node1" presStyleIdx="1" presStyleCnt="5">
        <dgm:presLayoutVars>
          <dgm:bulletEnabled val="1"/>
        </dgm:presLayoutVars>
      </dgm:prSet>
      <dgm:spPr/>
    </dgm:pt>
    <dgm:pt modelId="{BDF9B4E6-5748-40C8-AC5C-88066061EC11}" type="pres">
      <dgm:prSet presAssocID="{D6516A5E-874F-46BA-8AB8-B7AEA37B562A}" presName="FiveNodes_3" presStyleLbl="node1" presStyleIdx="2" presStyleCnt="5">
        <dgm:presLayoutVars>
          <dgm:bulletEnabled val="1"/>
        </dgm:presLayoutVars>
      </dgm:prSet>
      <dgm:spPr/>
    </dgm:pt>
    <dgm:pt modelId="{3CBC597C-DAC3-4DB0-8F50-FE7AEDA47259}" type="pres">
      <dgm:prSet presAssocID="{D6516A5E-874F-46BA-8AB8-B7AEA37B562A}" presName="FiveNodes_4" presStyleLbl="node1" presStyleIdx="3" presStyleCnt="5">
        <dgm:presLayoutVars>
          <dgm:bulletEnabled val="1"/>
        </dgm:presLayoutVars>
      </dgm:prSet>
      <dgm:spPr/>
    </dgm:pt>
    <dgm:pt modelId="{B9733D5F-61C2-4904-8A68-FBB0590980CA}" type="pres">
      <dgm:prSet presAssocID="{D6516A5E-874F-46BA-8AB8-B7AEA37B562A}" presName="FiveNodes_5" presStyleLbl="node1" presStyleIdx="4" presStyleCnt="5">
        <dgm:presLayoutVars>
          <dgm:bulletEnabled val="1"/>
        </dgm:presLayoutVars>
      </dgm:prSet>
      <dgm:spPr/>
    </dgm:pt>
    <dgm:pt modelId="{90E1D680-42DF-4CB2-91A7-5345EE5F4314}" type="pres">
      <dgm:prSet presAssocID="{D6516A5E-874F-46BA-8AB8-B7AEA37B562A}" presName="FiveConn_1-2" presStyleLbl="fgAccFollowNode1" presStyleIdx="0" presStyleCnt="4">
        <dgm:presLayoutVars>
          <dgm:bulletEnabled val="1"/>
        </dgm:presLayoutVars>
      </dgm:prSet>
      <dgm:spPr/>
    </dgm:pt>
    <dgm:pt modelId="{B80F14BD-79CF-4952-B75F-2C29B389B2E6}" type="pres">
      <dgm:prSet presAssocID="{D6516A5E-874F-46BA-8AB8-B7AEA37B562A}" presName="FiveConn_2-3" presStyleLbl="fgAccFollowNode1" presStyleIdx="1" presStyleCnt="4">
        <dgm:presLayoutVars>
          <dgm:bulletEnabled val="1"/>
        </dgm:presLayoutVars>
      </dgm:prSet>
      <dgm:spPr/>
    </dgm:pt>
    <dgm:pt modelId="{21FDC923-3A2F-4F83-8F2B-F7AA360FFA07}" type="pres">
      <dgm:prSet presAssocID="{D6516A5E-874F-46BA-8AB8-B7AEA37B562A}" presName="FiveConn_3-4" presStyleLbl="fgAccFollowNode1" presStyleIdx="2" presStyleCnt="4">
        <dgm:presLayoutVars>
          <dgm:bulletEnabled val="1"/>
        </dgm:presLayoutVars>
      </dgm:prSet>
      <dgm:spPr/>
    </dgm:pt>
    <dgm:pt modelId="{5A43AACE-B97B-49A9-8F2F-813294F588B8}" type="pres">
      <dgm:prSet presAssocID="{D6516A5E-874F-46BA-8AB8-B7AEA37B562A}" presName="FiveConn_4-5" presStyleLbl="fgAccFollowNode1" presStyleIdx="3" presStyleCnt="4">
        <dgm:presLayoutVars>
          <dgm:bulletEnabled val="1"/>
        </dgm:presLayoutVars>
      </dgm:prSet>
      <dgm:spPr/>
    </dgm:pt>
    <dgm:pt modelId="{D5F97624-8F12-4D43-A19D-94CE1C382F9D}" type="pres">
      <dgm:prSet presAssocID="{D6516A5E-874F-46BA-8AB8-B7AEA37B562A}" presName="FiveNodes_1_text" presStyleLbl="node1" presStyleIdx="4" presStyleCnt="5">
        <dgm:presLayoutVars>
          <dgm:bulletEnabled val="1"/>
        </dgm:presLayoutVars>
      </dgm:prSet>
      <dgm:spPr/>
    </dgm:pt>
    <dgm:pt modelId="{A4AEA53A-D10B-4326-9730-C56E738D2141}" type="pres">
      <dgm:prSet presAssocID="{D6516A5E-874F-46BA-8AB8-B7AEA37B562A}" presName="FiveNodes_2_text" presStyleLbl="node1" presStyleIdx="4" presStyleCnt="5">
        <dgm:presLayoutVars>
          <dgm:bulletEnabled val="1"/>
        </dgm:presLayoutVars>
      </dgm:prSet>
      <dgm:spPr/>
    </dgm:pt>
    <dgm:pt modelId="{83330000-ED39-4805-8B99-5563252A0A7E}" type="pres">
      <dgm:prSet presAssocID="{D6516A5E-874F-46BA-8AB8-B7AEA37B562A}" presName="FiveNodes_3_text" presStyleLbl="node1" presStyleIdx="4" presStyleCnt="5">
        <dgm:presLayoutVars>
          <dgm:bulletEnabled val="1"/>
        </dgm:presLayoutVars>
      </dgm:prSet>
      <dgm:spPr/>
    </dgm:pt>
    <dgm:pt modelId="{548F9F73-5D02-4DD3-8EB0-810EADD87B33}" type="pres">
      <dgm:prSet presAssocID="{D6516A5E-874F-46BA-8AB8-B7AEA37B562A}" presName="FiveNodes_4_text" presStyleLbl="node1" presStyleIdx="4" presStyleCnt="5">
        <dgm:presLayoutVars>
          <dgm:bulletEnabled val="1"/>
        </dgm:presLayoutVars>
      </dgm:prSet>
      <dgm:spPr/>
    </dgm:pt>
    <dgm:pt modelId="{60763304-6CB6-4B75-A134-C7ACBE1FDD01}" type="pres">
      <dgm:prSet presAssocID="{D6516A5E-874F-46BA-8AB8-B7AEA37B562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4499731-213C-4582-B3B0-3DE014EC87C7}" type="presOf" srcId="{0E207216-76FE-479A-BD91-9E95680913FB}" destId="{5A43AACE-B97B-49A9-8F2F-813294F588B8}" srcOrd="0" destOrd="0" presId="urn:microsoft.com/office/officeart/2005/8/layout/vProcess5"/>
    <dgm:cxn modelId="{DFF30336-A996-44B0-B36C-991F756B3A2E}" srcId="{D6516A5E-874F-46BA-8AB8-B7AEA37B562A}" destId="{C7EF76C5-E7AC-4B3E-95D0-DBC4ED424128}" srcOrd="4" destOrd="0" parTransId="{D3D693C6-C6A5-4233-A94F-4F0AA4B41DF0}" sibTransId="{B3B1FBD1-756C-4488-A9D2-E67A80121212}"/>
    <dgm:cxn modelId="{8B495649-AD8D-42EF-9FC5-6289CDF8E849}" type="presOf" srcId="{C7EF76C5-E7AC-4B3E-95D0-DBC4ED424128}" destId="{B9733D5F-61C2-4904-8A68-FBB0590980CA}" srcOrd="0" destOrd="0" presId="urn:microsoft.com/office/officeart/2005/8/layout/vProcess5"/>
    <dgm:cxn modelId="{1852344D-0537-490D-86E2-40658AB62916}" type="presOf" srcId="{6B867FC5-0CB8-47B6-9713-9855125E4B24}" destId="{21FDC923-3A2F-4F83-8F2B-F7AA360FFA07}" srcOrd="0" destOrd="0" presId="urn:microsoft.com/office/officeart/2005/8/layout/vProcess5"/>
    <dgm:cxn modelId="{B380DC4E-7478-4B64-9EDA-5669B9078391}" type="presOf" srcId="{5C172237-3D6F-4ABC-8DAB-9679B421EAEB}" destId="{B80F14BD-79CF-4952-B75F-2C29B389B2E6}" srcOrd="0" destOrd="0" presId="urn:microsoft.com/office/officeart/2005/8/layout/vProcess5"/>
    <dgm:cxn modelId="{70949783-F806-4770-B288-70EE3C327BAD}" type="presOf" srcId="{F34DE6C5-92E5-4C72-A892-614B4E92B674}" destId="{4CE1D454-683D-44EA-8170-87C4C3EDD1BA}" srcOrd="0" destOrd="0" presId="urn:microsoft.com/office/officeart/2005/8/layout/vProcess5"/>
    <dgm:cxn modelId="{F61FCC86-650B-4BEB-B925-E85F80DEC813}" type="presOf" srcId="{C7EF76C5-E7AC-4B3E-95D0-DBC4ED424128}" destId="{60763304-6CB6-4B75-A134-C7ACBE1FDD01}" srcOrd="1" destOrd="0" presId="urn:microsoft.com/office/officeart/2005/8/layout/vProcess5"/>
    <dgm:cxn modelId="{B104CE87-F2FB-4A9A-A4F8-0BEC2A7A792E}" type="presOf" srcId="{0F4C1EE4-EA64-47F9-9FC4-F4647C483812}" destId="{83330000-ED39-4805-8B99-5563252A0A7E}" srcOrd="1" destOrd="0" presId="urn:microsoft.com/office/officeart/2005/8/layout/vProcess5"/>
    <dgm:cxn modelId="{4936BD8F-E5E0-4DCD-9CFB-4A61D81E8635}" srcId="{D6516A5E-874F-46BA-8AB8-B7AEA37B562A}" destId="{0F4C1EE4-EA64-47F9-9FC4-F4647C483812}" srcOrd="2" destOrd="0" parTransId="{233F684F-92F7-4224-A0F0-0E2CB5E81A23}" sibTransId="{6B867FC5-0CB8-47B6-9713-9855125E4B24}"/>
    <dgm:cxn modelId="{0543E991-A1DC-4A3A-BE36-B224DF78ED2C}" type="presOf" srcId="{D6516A5E-874F-46BA-8AB8-B7AEA37B562A}" destId="{85810C3E-0077-40F6-A400-093F3C98D091}" srcOrd="0" destOrd="0" presId="urn:microsoft.com/office/officeart/2005/8/layout/vProcess5"/>
    <dgm:cxn modelId="{CA83FE94-BAFC-41A5-8920-F6BBAEAF4487}" srcId="{D6516A5E-874F-46BA-8AB8-B7AEA37B562A}" destId="{F34DE6C5-92E5-4C72-A892-614B4E92B674}" srcOrd="1" destOrd="0" parTransId="{C66BF782-EEF5-4935-B192-E8B5A27DF730}" sibTransId="{5C172237-3D6F-4ABC-8DAB-9679B421EAEB}"/>
    <dgm:cxn modelId="{EC61409B-E2D3-40EC-B459-44CA7A5CCC55}" srcId="{D6516A5E-874F-46BA-8AB8-B7AEA37B562A}" destId="{C2082DCD-F991-4C81-95F3-14F71DC58D44}" srcOrd="0" destOrd="0" parTransId="{1654E94D-F0AE-46B6-8DB1-DF15DC5EEE3D}" sibTransId="{788E00A5-4B7A-4FD0-BD96-4E136D670546}"/>
    <dgm:cxn modelId="{7CBFEDA6-E069-4E85-96D4-9AF92E037369}" srcId="{D6516A5E-874F-46BA-8AB8-B7AEA37B562A}" destId="{2F2E33BB-BDF7-45F1-82F3-9540FC47F758}" srcOrd="3" destOrd="0" parTransId="{8A8915F1-9F6E-4FD9-AC66-A4607C146717}" sibTransId="{0E207216-76FE-479A-BD91-9E95680913FB}"/>
    <dgm:cxn modelId="{AEFD7EA8-8B75-48AF-85C3-CEC846F1FCCA}" type="presOf" srcId="{F34DE6C5-92E5-4C72-A892-614B4E92B674}" destId="{A4AEA53A-D10B-4326-9730-C56E738D2141}" srcOrd="1" destOrd="0" presId="urn:microsoft.com/office/officeart/2005/8/layout/vProcess5"/>
    <dgm:cxn modelId="{70C2E8B8-9656-4A24-A4BD-15B071575BCD}" type="presOf" srcId="{0F4C1EE4-EA64-47F9-9FC4-F4647C483812}" destId="{BDF9B4E6-5748-40C8-AC5C-88066061EC11}" srcOrd="0" destOrd="0" presId="urn:microsoft.com/office/officeart/2005/8/layout/vProcess5"/>
    <dgm:cxn modelId="{596EF3DE-89D3-4594-92FD-A347817D3EFD}" type="presOf" srcId="{2F2E33BB-BDF7-45F1-82F3-9540FC47F758}" destId="{3CBC597C-DAC3-4DB0-8F50-FE7AEDA47259}" srcOrd="0" destOrd="0" presId="urn:microsoft.com/office/officeart/2005/8/layout/vProcess5"/>
    <dgm:cxn modelId="{48D574EA-3E57-4F4B-BB06-532F704C48CD}" type="presOf" srcId="{C2082DCD-F991-4C81-95F3-14F71DC58D44}" destId="{D5F97624-8F12-4D43-A19D-94CE1C382F9D}" srcOrd="1" destOrd="0" presId="urn:microsoft.com/office/officeart/2005/8/layout/vProcess5"/>
    <dgm:cxn modelId="{D91BB4EA-0A2A-4029-A02B-93C379524C2A}" type="presOf" srcId="{C2082DCD-F991-4C81-95F3-14F71DC58D44}" destId="{CFA2676A-81EB-4A70-A7A7-C55EE38C784F}" srcOrd="0" destOrd="0" presId="urn:microsoft.com/office/officeart/2005/8/layout/vProcess5"/>
    <dgm:cxn modelId="{BEFCCFEF-C521-42F8-95AC-D2E830462304}" type="presOf" srcId="{2F2E33BB-BDF7-45F1-82F3-9540FC47F758}" destId="{548F9F73-5D02-4DD3-8EB0-810EADD87B33}" srcOrd="1" destOrd="0" presId="urn:microsoft.com/office/officeart/2005/8/layout/vProcess5"/>
    <dgm:cxn modelId="{325A50F4-94C9-41A2-8709-734345A3CB87}" type="presOf" srcId="{788E00A5-4B7A-4FD0-BD96-4E136D670546}" destId="{90E1D680-42DF-4CB2-91A7-5345EE5F4314}" srcOrd="0" destOrd="0" presId="urn:microsoft.com/office/officeart/2005/8/layout/vProcess5"/>
    <dgm:cxn modelId="{26387C56-0134-4E9E-855B-A19456167989}" type="presParOf" srcId="{85810C3E-0077-40F6-A400-093F3C98D091}" destId="{BF263032-2EDD-4610-AEF7-CE8C1ED7BDDE}" srcOrd="0" destOrd="0" presId="urn:microsoft.com/office/officeart/2005/8/layout/vProcess5"/>
    <dgm:cxn modelId="{15D95B9D-80C0-42CD-9DDF-4D18008438F2}" type="presParOf" srcId="{85810C3E-0077-40F6-A400-093F3C98D091}" destId="{CFA2676A-81EB-4A70-A7A7-C55EE38C784F}" srcOrd="1" destOrd="0" presId="urn:microsoft.com/office/officeart/2005/8/layout/vProcess5"/>
    <dgm:cxn modelId="{1C598534-F669-4CB5-B2FA-0BEBE87DBA1D}" type="presParOf" srcId="{85810C3E-0077-40F6-A400-093F3C98D091}" destId="{4CE1D454-683D-44EA-8170-87C4C3EDD1BA}" srcOrd="2" destOrd="0" presId="urn:microsoft.com/office/officeart/2005/8/layout/vProcess5"/>
    <dgm:cxn modelId="{76460661-22A4-4E66-9B4E-F955A660CD1E}" type="presParOf" srcId="{85810C3E-0077-40F6-A400-093F3C98D091}" destId="{BDF9B4E6-5748-40C8-AC5C-88066061EC11}" srcOrd="3" destOrd="0" presId="urn:microsoft.com/office/officeart/2005/8/layout/vProcess5"/>
    <dgm:cxn modelId="{D9C0B224-5281-458B-A16A-2C6ACDEBBD14}" type="presParOf" srcId="{85810C3E-0077-40F6-A400-093F3C98D091}" destId="{3CBC597C-DAC3-4DB0-8F50-FE7AEDA47259}" srcOrd="4" destOrd="0" presId="urn:microsoft.com/office/officeart/2005/8/layout/vProcess5"/>
    <dgm:cxn modelId="{FFC516C7-4B39-4998-A66D-CF36B9EC1A5F}" type="presParOf" srcId="{85810C3E-0077-40F6-A400-093F3C98D091}" destId="{B9733D5F-61C2-4904-8A68-FBB0590980CA}" srcOrd="5" destOrd="0" presId="urn:microsoft.com/office/officeart/2005/8/layout/vProcess5"/>
    <dgm:cxn modelId="{1B5B85AD-1874-4850-8039-1178CA46D44D}" type="presParOf" srcId="{85810C3E-0077-40F6-A400-093F3C98D091}" destId="{90E1D680-42DF-4CB2-91A7-5345EE5F4314}" srcOrd="6" destOrd="0" presId="urn:microsoft.com/office/officeart/2005/8/layout/vProcess5"/>
    <dgm:cxn modelId="{6BEE9BFE-8DB4-459C-A1DC-76001FA70F5F}" type="presParOf" srcId="{85810C3E-0077-40F6-A400-093F3C98D091}" destId="{B80F14BD-79CF-4952-B75F-2C29B389B2E6}" srcOrd="7" destOrd="0" presId="urn:microsoft.com/office/officeart/2005/8/layout/vProcess5"/>
    <dgm:cxn modelId="{6EC126BB-6399-43F0-B79A-FD63B64E89DE}" type="presParOf" srcId="{85810C3E-0077-40F6-A400-093F3C98D091}" destId="{21FDC923-3A2F-4F83-8F2B-F7AA360FFA07}" srcOrd="8" destOrd="0" presId="urn:microsoft.com/office/officeart/2005/8/layout/vProcess5"/>
    <dgm:cxn modelId="{0F7B4C94-C722-4AA5-8E3D-026C03AB6080}" type="presParOf" srcId="{85810C3E-0077-40F6-A400-093F3C98D091}" destId="{5A43AACE-B97B-49A9-8F2F-813294F588B8}" srcOrd="9" destOrd="0" presId="urn:microsoft.com/office/officeart/2005/8/layout/vProcess5"/>
    <dgm:cxn modelId="{A1601FAA-128E-4C4A-BD3F-8672AE8E2DA0}" type="presParOf" srcId="{85810C3E-0077-40F6-A400-093F3C98D091}" destId="{D5F97624-8F12-4D43-A19D-94CE1C382F9D}" srcOrd="10" destOrd="0" presId="urn:microsoft.com/office/officeart/2005/8/layout/vProcess5"/>
    <dgm:cxn modelId="{05276DBF-2220-4DB1-B3D6-A6E5ACCD55FD}" type="presParOf" srcId="{85810C3E-0077-40F6-A400-093F3C98D091}" destId="{A4AEA53A-D10B-4326-9730-C56E738D2141}" srcOrd="11" destOrd="0" presId="urn:microsoft.com/office/officeart/2005/8/layout/vProcess5"/>
    <dgm:cxn modelId="{BA2FB7FF-33DC-4DB7-8771-18BE8C618052}" type="presParOf" srcId="{85810C3E-0077-40F6-A400-093F3C98D091}" destId="{83330000-ED39-4805-8B99-5563252A0A7E}" srcOrd="12" destOrd="0" presId="urn:microsoft.com/office/officeart/2005/8/layout/vProcess5"/>
    <dgm:cxn modelId="{1F48D12E-8963-444A-A8DC-09BADAC3CC6A}" type="presParOf" srcId="{85810C3E-0077-40F6-A400-093F3C98D091}" destId="{548F9F73-5D02-4DD3-8EB0-810EADD87B33}" srcOrd="13" destOrd="0" presId="urn:microsoft.com/office/officeart/2005/8/layout/vProcess5"/>
    <dgm:cxn modelId="{CB4A34BF-B97C-4C97-BE9B-1BD0103F21BB}" type="presParOf" srcId="{85810C3E-0077-40F6-A400-093F3C98D091}" destId="{60763304-6CB6-4B75-A134-C7ACBE1FDD0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2676A-81EB-4A70-A7A7-C55EE38C784F}">
      <dsp:nvSpPr>
        <dsp:cNvPr id="0" name=""/>
        <dsp:cNvSpPr/>
      </dsp:nvSpPr>
      <dsp:spPr>
        <a:xfrm>
          <a:off x="0" y="0"/>
          <a:ext cx="2947894" cy="7300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Release Planning</a:t>
          </a:r>
          <a:endParaRPr lang="en-ID" sz="1800" kern="1200" dirty="0"/>
        </a:p>
      </dsp:txBody>
      <dsp:txXfrm>
        <a:off x="21383" y="21383"/>
        <a:ext cx="2074671" cy="687306"/>
      </dsp:txXfrm>
    </dsp:sp>
    <dsp:sp modelId="{4CE1D454-683D-44EA-8170-87C4C3EDD1BA}">
      <dsp:nvSpPr>
        <dsp:cNvPr id="0" name=""/>
        <dsp:cNvSpPr/>
      </dsp:nvSpPr>
      <dsp:spPr>
        <a:xfrm>
          <a:off x="220134" y="831470"/>
          <a:ext cx="2947894" cy="73007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Release Verification</a:t>
          </a:r>
          <a:endParaRPr lang="en-ID" sz="1800" kern="1200" dirty="0"/>
        </a:p>
      </dsp:txBody>
      <dsp:txXfrm>
        <a:off x="241517" y="852853"/>
        <a:ext cx="2210446" cy="687306"/>
      </dsp:txXfrm>
    </dsp:sp>
    <dsp:sp modelId="{BDF9B4E6-5748-40C8-AC5C-88066061EC11}">
      <dsp:nvSpPr>
        <dsp:cNvPr id="0" name=""/>
        <dsp:cNvSpPr/>
      </dsp:nvSpPr>
      <dsp:spPr>
        <a:xfrm>
          <a:off x="440269" y="1662941"/>
          <a:ext cx="2947894" cy="73007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Release Deployment</a:t>
          </a:r>
          <a:endParaRPr lang="en-ID" sz="1800" kern="1200" dirty="0"/>
        </a:p>
      </dsp:txBody>
      <dsp:txXfrm>
        <a:off x="461652" y="1684324"/>
        <a:ext cx="2210446" cy="687306"/>
      </dsp:txXfrm>
    </dsp:sp>
    <dsp:sp modelId="{3CBC597C-DAC3-4DB0-8F50-FE7AEDA47259}">
      <dsp:nvSpPr>
        <dsp:cNvPr id="0" name=""/>
        <dsp:cNvSpPr/>
      </dsp:nvSpPr>
      <dsp:spPr>
        <a:xfrm>
          <a:off x="660404" y="2494412"/>
          <a:ext cx="2947894" cy="73007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Early Life Support</a:t>
          </a:r>
          <a:endParaRPr lang="en-ID" sz="1800" kern="1200" dirty="0"/>
        </a:p>
      </dsp:txBody>
      <dsp:txXfrm>
        <a:off x="681787" y="2515795"/>
        <a:ext cx="2210446" cy="687306"/>
      </dsp:txXfrm>
    </dsp:sp>
    <dsp:sp modelId="{B9733D5F-61C2-4904-8A68-FBB0590980CA}">
      <dsp:nvSpPr>
        <dsp:cNvPr id="0" name=""/>
        <dsp:cNvSpPr/>
      </dsp:nvSpPr>
      <dsp:spPr>
        <a:xfrm>
          <a:off x="880539" y="3325883"/>
          <a:ext cx="2947894" cy="73007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Release Closure</a:t>
          </a:r>
          <a:endParaRPr lang="en-ID" sz="1800" kern="1200" dirty="0"/>
        </a:p>
      </dsp:txBody>
      <dsp:txXfrm>
        <a:off x="901922" y="3347266"/>
        <a:ext cx="2210446" cy="687306"/>
      </dsp:txXfrm>
    </dsp:sp>
    <dsp:sp modelId="{90E1D680-42DF-4CB2-91A7-5345EE5F4314}">
      <dsp:nvSpPr>
        <dsp:cNvPr id="0" name=""/>
        <dsp:cNvSpPr/>
      </dsp:nvSpPr>
      <dsp:spPr>
        <a:xfrm>
          <a:off x="2473347" y="533358"/>
          <a:ext cx="474546" cy="474546"/>
        </a:xfrm>
        <a:prstGeom prst="downArrow">
          <a:avLst>
            <a:gd name="adj1" fmla="val 55000"/>
            <a:gd name="adj2" fmla="val 45000"/>
          </a:avLst>
        </a:prstGeom>
        <a:solidFill>
          <a:srgbClr val="E97132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100" kern="1200"/>
        </a:p>
      </dsp:txBody>
      <dsp:txXfrm>
        <a:off x="2580120" y="533358"/>
        <a:ext cx="261000" cy="357096"/>
      </dsp:txXfrm>
    </dsp:sp>
    <dsp:sp modelId="{B80F14BD-79CF-4952-B75F-2C29B389B2E6}">
      <dsp:nvSpPr>
        <dsp:cNvPr id="0" name=""/>
        <dsp:cNvSpPr/>
      </dsp:nvSpPr>
      <dsp:spPr>
        <a:xfrm>
          <a:off x="2693482" y="1364829"/>
          <a:ext cx="474546" cy="474546"/>
        </a:xfrm>
        <a:prstGeom prst="downArrow">
          <a:avLst>
            <a:gd name="adj1" fmla="val 55000"/>
            <a:gd name="adj2" fmla="val 45000"/>
          </a:avLst>
        </a:prstGeom>
        <a:solidFill>
          <a:srgbClr val="D8B11D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100" kern="1200"/>
        </a:p>
      </dsp:txBody>
      <dsp:txXfrm>
        <a:off x="2800255" y="1364829"/>
        <a:ext cx="261000" cy="357096"/>
      </dsp:txXfrm>
    </dsp:sp>
    <dsp:sp modelId="{21FDC923-3A2F-4F83-8F2B-F7AA360FFA07}">
      <dsp:nvSpPr>
        <dsp:cNvPr id="0" name=""/>
        <dsp:cNvSpPr/>
      </dsp:nvSpPr>
      <dsp:spPr>
        <a:xfrm>
          <a:off x="2913617" y="2184132"/>
          <a:ext cx="474546" cy="474546"/>
        </a:xfrm>
        <a:prstGeom prst="downArrow">
          <a:avLst>
            <a:gd name="adj1" fmla="val 55000"/>
            <a:gd name="adj2" fmla="val 45000"/>
          </a:avLst>
        </a:prstGeom>
        <a:solidFill>
          <a:srgbClr val="8EB21E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100" kern="1200"/>
        </a:p>
      </dsp:txBody>
      <dsp:txXfrm>
        <a:off x="3020390" y="2184132"/>
        <a:ext cx="261000" cy="357096"/>
      </dsp:txXfrm>
    </dsp:sp>
    <dsp:sp modelId="{5A43AACE-B97B-49A9-8F2F-813294F588B8}">
      <dsp:nvSpPr>
        <dsp:cNvPr id="0" name=""/>
        <dsp:cNvSpPr/>
      </dsp:nvSpPr>
      <dsp:spPr>
        <a:xfrm>
          <a:off x="3133752" y="3023715"/>
          <a:ext cx="474546" cy="474546"/>
        </a:xfrm>
        <a:prstGeom prst="downArrow">
          <a:avLst>
            <a:gd name="adj1" fmla="val 55000"/>
            <a:gd name="adj2" fmla="val 45000"/>
          </a:avLst>
        </a:prstGeom>
        <a:solidFill>
          <a:srgbClr val="408E1C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2100" kern="1200"/>
        </a:p>
      </dsp:txBody>
      <dsp:txXfrm>
        <a:off x="3240525" y="3023715"/>
        <a:ext cx="261000" cy="357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12EEA-52D7-402B-B56B-45A45F5E170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6BC0E-117E-4BA0-8B43-C00551876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8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BC0E-117E-4BA0-8B43-C005518763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2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51FF-7F0B-A5B6-027D-AFD28C627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6143B-47E5-F50B-D317-4DDBB44D3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762E6-FD74-B25F-3A7D-85A36647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0D649-5CD3-F35E-16BB-8C595839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1D343-AEFA-9C45-1CE3-5DCAF2A6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4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66DA-55F0-612D-DAE9-83106724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6B4F-45B8-9E58-3E00-9A1331BBD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279C3-3C33-F687-2AE1-636EBCBA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06604-5B41-2810-46E9-7A89A5E2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22D27-ABCE-8642-9DE7-6249F9A3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3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4E476-CDD2-09ED-94CC-3BA18DBBC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DBBF7-003D-6152-798F-D7E592EFE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0035A-78DC-CDDE-9D30-21E4D366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9A6A3-5F34-EA80-5AF9-A8F7AF282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BDE6C-CE0F-F5D3-A7FB-64445548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49E6-0D62-12EE-0101-3B372E37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46C79-7C05-9367-4E9A-8A90559F5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30E26-23F5-61C9-F769-A869C81F4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2F47A-51B0-A922-3570-8DDC9A66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0C60D-12EB-7C8B-885A-64247A34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32687-4A66-18F1-67DE-A7B5EFE9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0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62B7-1E78-6BDB-2726-290FD3FE8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A5F47-0920-E039-300A-53F7D75D2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4BA25-9B2D-69A2-7B88-EAFCB599A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A9CD9-C30E-4EE3-557F-F1FE6D119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26A9-9A55-5997-4A3D-DD95FA2A9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EEED5-1716-8551-2079-6189218D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E2318-A755-3F0D-980F-E7299903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838F-7325-EE63-AACF-D4C0827E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2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41B75-A705-430F-E557-9B85BCED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D8F58-B083-67E5-5A88-E7C6E3A5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26E2D-6A07-4717-28A6-5DCBED538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A08CD-04FB-D05D-63BE-5DFF4E0C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89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2A60E6-C9E2-A5DF-4D6A-FF077C7D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04C5F-A927-15B4-1449-D83553B3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8DB3E-31B0-FF7B-B5A3-C96A093F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7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BAAC-CCD7-93C4-41B9-3403101C1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CCC80-40BB-8A9B-E6A9-0202754AE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6C284-EC91-755D-40FB-BCFFDEAD5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CDBF3-9995-35F5-B1C5-251FD4D9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178C0-1605-E2AA-CD6E-3D99E464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60455-4703-F08D-B187-99DA7C18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45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B355-D223-3B04-CF5C-A064A041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653AB-2400-4446-9A68-8FE91132E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08692-FFD6-BB97-843F-769365C2C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28E82-908A-CF00-2B41-D2185E9A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623AE-42F4-E73D-DA9A-E9AFBB900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C3E23-33CB-0C4E-49BA-FD1F13A8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0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D9CD-FEBF-20AE-5402-2CFB2B5A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7D1D2-1F72-D46B-25F6-0A62F400D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55F68-A768-535E-94EA-1AB99592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8D1DD-5E38-729B-6640-81C62B6E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C0646-8976-76D8-ED2F-C17687FF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F00E2-4D51-7564-8696-54BAA1928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1B691-F9F5-AA7F-87B5-59B063439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6734A-8F94-29B8-5000-DF333B17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FE62-F8F5-6502-2D4C-40981248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2D9F-7E8C-7D4D-6DF0-A5710F03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94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2C2C-BFAD-E845-7545-87758D22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18B15-9F7B-3A20-E7E1-21722AF8E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6353-C413-B90E-F223-87D0FE3A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A632D-94F2-DC5F-46E1-8E627BDD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52DCF-53E5-BCAB-1FA3-13ECF006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32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8608-8691-514B-611D-09AE8879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A97F-F7BF-45E8-99ED-B7C35CA1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27C19-5D37-FBF0-D23B-13018C73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6782-11BE-7961-0DD6-E49E20B8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03FC4-96A6-FBE8-7513-C9636A7D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91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D61F-092D-811E-ECFC-8CCA69F6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95FBF-AFA0-A315-4632-42E4EA6C5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F196-6DEC-2F55-8BF6-55778EBF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85132-1EA0-9273-BD2B-235ABDC9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DB998-1774-8A54-4870-53092914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95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6F88-9D7F-A7DB-9C44-D1FF5C1F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B22BA-4438-0E99-3C45-56BA5BE2A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A27C9-1A41-A43E-F77F-05A3A836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5097-DBE6-6080-A1EB-C34EA61E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FC389-C533-12C4-7812-DD935BAD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32A07-6E31-507F-7C7F-EF55A082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04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077B-E2DD-2BF4-2C2A-289EFE6B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6683E-3CF5-FE7E-44F4-82D0D5286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E0705-10B7-61AC-272F-473D30382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C297B-01D9-3973-05BB-5E5292924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5C7DE-E986-8A58-EF10-EE8F2463C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EB5AE-7D42-9DCB-90C5-27A3FE4BA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C80AC-B98B-8640-B13F-5359DF71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CD33A-F630-8FED-ED61-F4CE46AA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1455-DBC4-B914-3037-B53A67BE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F81E4-76AE-C3C1-E4A0-B445B1C8D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051DC-06CF-23A1-33D0-B588ADEB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40F0A-E3E4-1351-F5E1-6794710ED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22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0B337-932E-103A-C47E-E331C0C1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9509A-256C-6CBF-D449-0317507B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83728-8FE6-5113-E50E-2BBE0FCD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08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F903-E4D1-1438-B9C5-038975E8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D6156-13A2-D05D-33B6-9B1205BB2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93C47-5827-B9F4-C3AE-747371D0D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DFC21-5741-8635-1834-A5ACC104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1F901-30FB-29F9-E7F3-1F191B54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37432-8598-436C-D0B1-67E8C12F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753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4131-7357-CA69-26F9-20E095C7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A2608-C759-C809-B9C7-99483F8BF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E43CF-C028-26E6-12A3-7C4761E81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C33C0-F908-4E9A-C11B-2CBADCC38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84BA7-0852-9F9E-64BB-59BE36FC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EF921-65E1-43C5-F0CA-547A3E2E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70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85B0-79C8-586F-0722-EA95924F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EE1E4-4386-A09B-05FE-5E072678D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278A4-2055-6FCB-D906-65F7CA80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1C5B4-EB82-B00B-20D2-D6588220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69630-FE72-0874-E8DC-AEE31BE1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0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D5478-0236-0387-999A-5DF6937C0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789CA-2743-DEDB-D5CF-E08E36729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B6DA5-83DD-9F32-15DF-4DAB8229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4959C-9820-A307-FF1A-77F5679A4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977A-8BF1-04F1-61B3-D5BB635D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7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A337C-6723-1377-C7CE-8CB329EE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227FC-BCB7-4596-65ED-7DBF8BD03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EDDC8-D008-CD29-6A69-D9E2E6905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669BF-2358-4E62-95D2-3CF6F05EF45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48CCF-625B-A7F1-BD39-3C82C4DED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1AD84-E9D2-DE29-C85F-E41A56615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E56A48-E13F-4CDB-9C01-302E7DEDC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8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956F66-C659-8A1B-B4A9-D34E9E09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72429-7666-9551-ED05-DB29C8C22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F77B6-1A27-5943-34CD-19BDA9217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AA559-C5EF-473B-B899-663D9A8E26D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6380C-EFB5-D54C-C063-D16F91EB6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73728-DD65-2EE8-9540-1433DEBE2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9C284-4D25-44F6-9FFB-207F1040A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7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imgres?q=logo%20equity%20life&amp;imgurl=https%3A%2F%2Fwww.equity.co.id%2Fwp-content%2Fuploads%2F2023%2F08%2Flogo_main.png&amp;imgrefurl=https%3A%2F%2Fwww.equity.co.id%2F&amp;docid=uB5j7hQmtyl5_M&amp;tbnid=BVnIzZrm1FGCIM&amp;vet=12ahUKEwj2vOjEytaNAxVQcGwGHWNWNqEQM3oECB4QAA..i&amp;w=1024&amp;h=577&amp;hcb=2&amp;ved=2ahUKEwj2vOjEytaNAxVQcGwGHWNWNqEQM3oECB4QA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90324-01ED-C3C9-48FF-C2698E30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C0E49-DC78-EF3A-EE39-9FBD932A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34"/>
          <a:stretch>
            <a:fillRect/>
          </a:stretch>
        </p:blipFill>
        <p:spPr>
          <a:xfrm>
            <a:off x="0" y="-5563"/>
            <a:ext cx="12192000" cy="68635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028822-E637-1301-A9DE-62AAAF6530F1}"/>
              </a:ext>
            </a:extLst>
          </p:cNvPr>
          <p:cNvSpPr/>
          <p:nvPr/>
        </p:nvSpPr>
        <p:spPr>
          <a:xfrm>
            <a:off x="520231" y="1034254"/>
            <a:ext cx="11671769" cy="2899571"/>
          </a:xfrm>
          <a:prstGeom prst="rect">
            <a:avLst/>
          </a:prstGeom>
          <a:solidFill>
            <a:srgbClr val="3B7D2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0A3AC-F07F-56C1-9DFE-0C81D3E6E8E5}"/>
              </a:ext>
            </a:extLst>
          </p:cNvPr>
          <p:cNvSpPr txBox="1"/>
          <p:nvPr/>
        </p:nvSpPr>
        <p:spPr>
          <a:xfrm>
            <a:off x="808038" y="2151953"/>
            <a:ext cx="112723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ELI_IT Release Management</a:t>
            </a:r>
          </a:p>
        </p:txBody>
      </p:sp>
      <p:pic>
        <p:nvPicPr>
          <p:cNvPr id="1026" name="Picture 2" descr="Equity Life Indonesia">
            <a:hlinkClick r:id="rId3"/>
            <a:extLst>
              <a:ext uri="{FF2B5EF4-FFF2-40B4-BE49-F238E27FC236}">
                <a16:creationId xmlns:a16="http://schemas.microsoft.com/office/drawing/2014/main" id="{A3F7EF80-F499-6545-5A18-296ABCA67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135860"/>
            <a:ext cx="1200211" cy="67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56617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E149-6195-B318-5BE4-30DD1022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3CD8B5-6B01-216A-B75B-254D29B32309}"/>
              </a:ext>
            </a:extLst>
          </p:cNvPr>
          <p:cNvSpPr/>
          <p:nvPr/>
        </p:nvSpPr>
        <p:spPr>
          <a:xfrm>
            <a:off x="1" y="139700"/>
            <a:ext cx="1021469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3B7D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Project plan ">
            <a:extLst>
              <a:ext uri="{FF2B5EF4-FFF2-40B4-BE49-F238E27FC236}">
                <a16:creationId xmlns:a16="http://schemas.microsoft.com/office/drawing/2014/main" id="{4F92D9F5-0454-62D4-6DB9-A987B26A9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59" y="252465"/>
            <a:ext cx="532395" cy="53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35736D-9DA5-186B-4BBB-AF552A065534}"/>
              </a:ext>
            </a:extLst>
          </p:cNvPr>
          <p:cNvSpPr txBox="1"/>
          <p:nvPr/>
        </p:nvSpPr>
        <p:spPr>
          <a:xfrm>
            <a:off x="1143901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Release Management Flow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34D3DD07-8D14-0648-EE85-F02AA442D92B}"/>
              </a:ext>
            </a:extLst>
          </p:cNvPr>
          <p:cNvSpPr txBox="1"/>
          <p:nvPr/>
        </p:nvSpPr>
        <p:spPr>
          <a:xfrm>
            <a:off x="1143901" y="550735"/>
            <a:ext cx="1083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plan, control, and deliver system changes into production in a structured, low-risk manner to ensure business value is realized with minimal disruption to operations.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153A6-FE02-CEAD-CE77-D34AF9E69438}"/>
              </a:ext>
            </a:extLst>
          </p:cNvPr>
          <p:cNvSpPr txBox="1"/>
          <p:nvPr/>
        </p:nvSpPr>
        <p:spPr>
          <a:xfrm>
            <a:off x="3926460" y="5220834"/>
            <a:ext cx="4402845" cy="818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b="1" i="0" dirty="0">
                <a:effectLst/>
              </a:rPr>
              <a:t>5. Release Closure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</a:rPr>
              <a:t>This process deals with closing a release after verifying if activity logs and CMS contents are up to date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EF89C95-3BD1-863A-B7E3-A6AEB8F50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865170"/>
              </p:ext>
            </p:extLst>
          </p:nvPr>
        </p:nvGraphicFramePr>
        <p:xfrm>
          <a:off x="98026" y="1937896"/>
          <a:ext cx="3828434" cy="4055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807E26-2F73-AAA7-DD6D-2E2A0000EC57}"/>
              </a:ext>
            </a:extLst>
          </p:cNvPr>
          <p:cNvSpPr txBox="1"/>
          <p:nvPr/>
        </p:nvSpPr>
        <p:spPr>
          <a:xfrm>
            <a:off x="3142705" y="1867119"/>
            <a:ext cx="5186599" cy="818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lnSpc>
                <a:spcPts val="2250"/>
              </a:lnSpc>
              <a:buFont typeface="+mj-lt"/>
              <a:buAutoNum type="arabicPeriod"/>
            </a:pPr>
            <a:r>
              <a:rPr lang="en-US" sz="1400" b="1" i="0" dirty="0">
                <a:effectLst/>
              </a:rPr>
              <a:t>Release Planning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</a:rPr>
              <a:t>The objective of this process is to </a:t>
            </a:r>
            <a:r>
              <a:rPr lang="en-US" sz="1400" dirty="0">
                <a:solidFill>
                  <a:srgbClr val="374151"/>
                </a:solidFill>
              </a:rPr>
              <a:t>submit request</a:t>
            </a:r>
            <a:r>
              <a:rPr lang="en-US" sz="1400" b="0" i="0" dirty="0">
                <a:solidFill>
                  <a:srgbClr val="374151"/>
                </a:solidFill>
                <a:effectLst/>
              </a:rPr>
              <a:t> of changes to be verify and decided of Go/No Go Deployment  in CAB Forum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F7518F-5987-DF0A-C8CA-688997667C83}"/>
              </a:ext>
            </a:extLst>
          </p:cNvPr>
          <p:cNvSpPr txBox="1"/>
          <p:nvPr/>
        </p:nvSpPr>
        <p:spPr>
          <a:xfrm>
            <a:off x="3379131" y="2676141"/>
            <a:ext cx="5147065" cy="818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b="1" i="0" dirty="0">
                <a:effectLst/>
              </a:rPr>
              <a:t>2. Release Verification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</a:rPr>
              <a:t>This process deals with verify planned releases and ensures all components are ready to enter the production phase.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C5AE6-7C55-E565-1CAA-730C45C758F1}"/>
              </a:ext>
            </a:extLst>
          </p:cNvPr>
          <p:cNvSpPr txBox="1"/>
          <p:nvPr/>
        </p:nvSpPr>
        <p:spPr>
          <a:xfrm>
            <a:off x="3510452" y="3525735"/>
            <a:ext cx="5496417" cy="818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b="1" i="0" dirty="0">
                <a:solidFill>
                  <a:srgbClr val="374151"/>
                </a:solidFill>
                <a:effectLst/>
              </a:rPr>
              <a:t>3. </a:t>
            </a:r>
            <a:r>
              <a:rPr lang="en-US" sz="1400" b="1" i="0" dirty="0">
                <a:effectLst/>
              </a:rPr>
              <a:t>Release Deployment</a:t>
            </a:r>
          </a:p>
          <a:p>
            <a:pPr algn="l">
              <a:buNone/>
            </a:pPr>
            <a:r>
              <a:rPr lang="en-US" sz="1400" b="0" i="0" dirty="0">
                <a:solidFill>
                  <a:srgbClr val="374151"/>
                </a:solidFill>
                <a:effectLst/>
              </a:rPr>
              <a:t>The objective of this process is to deploy new release in prod</a:t>
            </a:r>
            <a:r>
              <a:rPr lang="en-US" sz="1400" dirty="0">
                <a:solidFill>
                  <a:srgbClr val="374151"/>
                </a:solidFill>
              </a:rPr>
              <a:t> </a:t>
            </a:r>
            <a:r>
              <a:rPr lang="en-US" sz="1400" b="0" i="0" dirty="0">
                <a:solidFill>
                  <a:srgbClr val="374151"/>
                </a:solidFill>
                <a:effectLst/>
              </a:rPr>
              <a:t>environment as schedule with pre-defined steps include rollback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E8A9D4-EF8A-B86D-933C-01E1A7F2715C}"/>
              </a:ext>
            </a:extLst>
          </p:cNvPr>
          <p:cNvSpPr txBox="1"/>
          <p:nvPr/>
        </p:nvSpPr>
        <p:spPr>
          <a:xfrm>
            <a:off x="3749488" y="4340115"/>
            <a:ext cx="5014873" cy="953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b="1" i="0" dirty="0">
                <a:effectLst/>
              </a:rPr>
              <a:t>4. Early Life Support (ELS)</a:t>
            </a:r>
          </a:p>
          <a:p>
            <a:pPr algn="l">
              <a:lnSpc>
                <a:spcPts val="2250"/>
              </a:lnSpc>
            </a:pPr>
            <a:r>
              <a:rPr lang="en-US" sz="1400" b="0" i="0" dirty="0">
                <a:solidFill>
                  <a:srgbClr val="374151"/>
                </a:solidFill>
                <a:effectLst/>
              </a:rPr>
              <a:t>The purpose of this process is to resolve operational issues during initial period after release deployment (Hypercare).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5A58C5-2E98-E2BA-1B0A-51A4FA624E5E}"/>
              </a:ext>
            </a:extLst>
          </p:cNvPr>
          <p:cNvSpPr txBox="1"/>
          <p:nvPr/>
        </p:nvSpPr>
        <p:spPr>
          <a:xfrm>
            <a:off x="9177238" y="2130241"/>
            <a:ext cx="2745023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i="0" dirty="0">
                <a:effectLst/>
              </a:rPr>
              <a:t>Release Plan with supported doc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A6F778-F97D-BC02-B041-213711D9FE5C}"/>
              </a:ext>
            </a:extLst>
          </p:cNvPr>
          <p:cNvSpPr txBox="1"/>
          <p:nvPr/>
        </p:nvSpPr>
        <p:spPr>
          <a:xfrm>
            <a:off x="9160164" y="3711613"/>
            <a:ext cx="3014762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Deployment Execution Record / Log and Prod Release Announcement</a:t>
            </a:r>
            <a:endParaRPr lang="en-US" sz="1400" i="0" dirty="0"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6077D-ED55-5D10-E1E2-D3157AC0C521}"/>
              </a:ext>
            </a:extLst>
          </p:cNvPr>
          <p:cNvSpPr txBox="1"/>
          <p:nvPr/>
        </p:nvSpPr>
        <p:spPr>
          <a:xfrm>
            <a:off x="9171289" y="2625974"/>
            <a:ext cx="3010373" cy="953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Operational Readiness, Go/No Go Approval and Plan Deployment Announcement </a:t>
            </a:r>
            <a:endParaRPr lang="en-US" sz="1400" i="0" dirty="0"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8D3F04-6D69-F2B1-3F1E-E389854D77F9}"/>
              </a:ext>
            </a:extLst>
          </p:cNvPr>
          <p:cNvSpPr txBox="1"/>
          <p:nvPr/>
        </p:nvSpPr>
        <p:spPr>
          <a:xfrm>
            <a:off x="9177238" y="5395944"/>
            <a:ext cx="2906973" cy="65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PIR Report, Lesson Learned Doc, Release / CAB Closure Report </a:t>
            </a:r>
            <a:endParaRPr lang="en-US" sz="1400" i="0" dirty="0"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97DDBA-8D85-35CF-6E2E-32392533179B}"/>
              </a:ext>
            </a:extLst>
          </p:cNvPr>
          <p:cNvSpPr txBox="1"/>
          <p:nvPr/>
        </p:nvSpPr>
        <p:spPr>
          <a:xfrm>
            <a:off x="9177238" y="4442734"/>
            <a:ext cx="3049699" cy="953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i="0" dirty="0">
                <a:effectLst/>
              </a:rPr>
              <a:t>ELS Monitoring Report, Incident Tracking Report, Operation Handover Readiness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311632-DB17-6180-C9AF-DD5529593557}"/>
              </a:ext>
            </a:extLst>
          </p:cNvPr>
          <p:cNvGrpSpPr/>
          <p:nvPr/>
        </p:nvGrpSpPr>
        <p:grpSpPr>
          <a:xfrm rot="16200000">
            <a:off x="8690616" y="2100813"/>
            <a:ext cx="474546" cy="474546"/>
            <a:chOff x="3393425" y="533358"/>
            <a:chExt cx="474546" cy="474546"/>
          </a:xfrm>
          <a:solidFill>
            <a:srgbClr val="E97132"/>
          </a:solidFill>
        </p:grpSpPr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F0E59B9D-36C5-547F-A423-4BB63B0A3CB1}"/>
                </a:ext>
              </a:extLst>
            </p:cNvPr>
            <p:cNvSpPr/>
            <p:nvPr/>
          </p:nvSpPr>
          <p:spPr>
            <a:xfrm>
              <a:off x="3393425" y="533358"/>
              <a:ext cx="474546" cy="474546"/>
            </a:xfrm>
            <a:prstGeom prst="downArrow">
              <a:avLst>
                <a:gd name="adj1" fmla="val 55000"/>
                <a:gd name="adj2" fmla="val 45000"/>
              </a:avLst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37" name="Arrow: Down 4">
              <a:extLst>
                <a:ext uri="{FF2B5EF4-FFF2-40B4-BE49-F238E27FC236}">
                  <a16:creationId xmlns:a16="http://schemas.microsoft.com/office/drawing/2014/main" id="{B210EFC1-ACF1-E504-AB17-112A2CF16EBF}"/>
                </a:ext>
              </a:extLst>
            </p:cNvPr>
            <p:cNvSpPr txBox="1"/>
            <p:nvPr/>
          </p:nvSpPr>
          <p:spPr>
            <a:xfrm>
              <a:off x="3500198" y="533358"/>
              <a:ext cx="261000" cy="357096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100" kern="120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EBD8EF3-E6CB-B5C8-CB29-1AFBF55CCEE0}"/>
              </a:ext>
            </a:extLst>
          </p:cNvPr>
          <p:cNvGrpSpPr/>
          <p:nvPr/>
        </p:nvGrpSpPr>
        <p:grpSpPr>
          <a:xfrm rot="16200000">
            <a:off x="8690616" y="2884201"/>
            <a:ext cx="474546" cy="474546"/>
            <a:chOff x="3393425" y="533358"/>
            <a:chExt cx="474546" cy="474546"/>
          </a:xfrm>
          <a:solidFill>
            <a:srgbClr val="D8B11D"/>
          </a:solidFill>
        </p:grpSpPr>
        <p:sp>
          <p:nvSpPr>
            <p:cNvPr id="39" name="Arrow: Down 38">
              <a:extLst>
                <a:ext uri="{FF2B5EF4-FFF2-40B4-BE49-F238E27FC236}">
                  <a16:creationId xmlns:a16="http://schemas.microsoft.com/office/drawing/2014/main" id="{AB2027C4-19B7-413E-5EA9-2FA3607FF61F}"/>
                </a:ext>
              </a:extLst>
            </p:cNvPr>
            <p:cNvSpPr/>
            <p:nvPr/>
          </p:nvSpPr>
          <p:spPr>
            <a:xfrm>
              <a:off x="3393425" y="533358"/>
              <a:ext cx="474546" cy="474546"/>
            </a:xfrm>
            <a:prstGeom prst="downArrow">
              <a:avLst>
                <a:gd name="adj1" fmla="val 55000"/>
                <a:gd name="adj2" fmla="val 45000"/>
              </a:avLst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40" name="Arrow: Down 4">
              <a:extLst>
                <a:ext uri="{FF2B5EF4-FFF2-40B4-BE49-F238E27FC236}">
                  <a16:creationId xmlns:a16="http://schemas.microsoft.com/office/drawing/2014/main" id="{332D9701-B073-FA67-B16B-BD91502DB45D}"/>
                </a:ext>
              </a:extLst>
            </p:cNvPr>
            <p:cNvSpPr txBox="1"/>
            <p:nvPr/>
          </p:nvSpPr>
          <p:spPr>
            <a:xfrm>
              <a:off x="3500198" y="533358"/>
              <a:ext cx="261000" cy="357096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100" kern="120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8AC9584-41E2-A5E8-8C9C-8870BED9FCE6}"/>
              </a:ext>
            </a:extLst>
          </p:cNvPr>
          <p:cNvGrpSpPr/>
          <p:nvPr/>
        </p:nvGrpSpPr>
        <p:grpSpPr>
          <a:xfrm rot="16200000">
            <a:off x="8690616" y="3783062"/>
            <a:ext cx="474546" cy="474546"/>
            <a:chOff x="3393425" y="533358"/>
            <a:chExt cx="474546" cy="474546"/>
          </a:xfrm>
          <a:solidFill>
            <a:srgbClr val="8EB21E"/>
          </a:solidFill>
        </p:grpSpPr>
        <p:sp>
          <p:nvSpPr>
            <p:cNvPr id="42" name="Arrow: Down 41">
              <a:extLst>
                <a:ext uri="{FF2B5EF4-FFF2-40B4-BE49-F238E27FC236}">
                  <a16:creationId xmlns:a16="http://schemas.microsoft.com/office/drawing/2014/main" id="{BC43C0FD-36CA-72E0-D769-19768439C70C}"/>
                </a:ext>
              </a:extLst>
            </p:cNvPr>
            <p:cNvSpPr/>
            <p:nvPr/>
          </p:nvSpPr>
          <p:spPr>
            <a:xfrm>
              <a:off x="3393425" y="533358"/>
              <a:ext cx="474546" cy="474546"/>
            </a:xfrm>
            <a:prstGeom prst="downArrow">
              <a:avLst>
                <a:gd name="adj1" fmla="val 55000"/>
                <a:gd name="adj2" fmla="val 45000"/>
              </a:avLst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43" name="Arrow: Down 4">
              <a:extLst>
                <a:ext uri="{FF2B5EF4-FFF2-40B4-BE49-F238E27FC236}">
                  <a16:creationId xmlns:a16="http://schemas.microsoft.com/office/drawing/2014/main" id="{EF732C62-2A78-307E-873A-97F45A0F0F00}"/>
                </a:ext>
              </a:extLst>
            </p:cNvPr>
            <p:cNvSpPr txBox="1"/>
            <p:nvPr/>
          </p:nvSpPr>
          <p:spPr>
            <a:xfrm>
              <a:off x="3500198" y="533358"/>
              <a:ext cx="261000" cy="357096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100" kern="120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E64219A-41DF-44D7-737C-82ED510ED41F}"/>
              </a:ext>
            </a:extLst>
          </p:cNvPr>
          <p:cNvGrpSpPr/>
          <p:nvPr/>
        </p:nvGrpSpPr>
        <p:grpSpPr>
          <a:xfrm rot="16200000">
            <a:off x="8685618" y="4624866"/>
            <a:ext cx="474546" cy="474546"/>
            <a:chOff x="3393425" y="533358"/>
            <a:chExt cx="474546" cy="474546"/>
          </a:xfrm>
          <a:solidFill>
            <a:srgbClr val="408E1C"/>
          </a:solidFill>
        </p:grpSpPr>
        <p:sp>
          <p:nvSpPr>
            <p:cNvPr id="45" name="Arrow: Down 44">
              <a:extLst>
                <a:ext uri="{FF2B5EF4-FFF2-40B4-BE49-F238E27FC236}">
                  <a16:creationId xmlns:a16="http://schemas.microsoft.com/office/drawing/2014/main" id="{C1FA4B1C-D0FC-B6A4-E108-6E6478AE18C6}"/>
                </a:ext>
              </a:extLst>
            </p:cNvPr>
            <p:cNvSpPr/>
            <p:nvPr/>
          </p:nvSpPr>
          <p:spPr>
            <a:xfrm>
              <a:off x="3393425" y="533358"/>
              <a:ext cx="474546" cy="474546"/>
            </a:xfrm>
            <a:prstGeom prst="downArrow">
              <a:avLst>
                <a:gd name="adj1" fmla="val 55000"/>
                <a:gd name="adj2" fmla="val 45000"/>
              </a:avLst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46" name="Arrow: Down 4">
              <a:extLst>
                <a:ext uri="{FF2B5EF4-FFF2-40B4-BE49-F238E27FC236}">
                  <a16:creationId xmlns:a16="http://schemas.microsoft.com/office/drawing/2014/main" id="{355B1C38-2B8C-E0D2-BACC-8AABE1A93BAD}"/>
                </a:ext>
              </a:extLst>
            </p:cNvPr>
            <p:cNvSpPr txBox="1"/>
            <p:nvPr/>
          </p:nvSpPr>
          <p:spPr>
            <a:xfrm>
              <a:off x="3500198" y="533358"/>
              <a:ext cx="261000" cy="357096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100" kern="120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01E3ACF-626C-5488-844E-52C8BA0FF85E}"/>
              </a:ext>
            </a:extLst>
          </p:cNvPr>
          <p:cNvGrpSpPr/>
          <p:nvPr/>
        </p:nvGrpSpPr>
        <p:grpSpPr>
          <a:xfrm rot="16200000">
            <a:off x="8676093" y="5443323"/>
            <a:ext cx="474546" cy="474546"/>
            <a:chOff x="3393425" y="533358"/>
            <a:chExt cx="474546" cy="474546"/>
          </a:xfrm>
          <a:solidFill>
            <a:srgbClr val="196B24"/>
          </a:solidFill>
        </p:grpSpPr>
        <p:sp>
          <p:nvSpPr>
            <p:cNvPr id="48" name="Arrow: Down 47">
              <a:extLst>
                <a:ext uri="{FF2B5EF4-FFF2-40B4-BE49-F238E27FC236}">
                  <a16:creationId xmlns:a16="http://schemas.microsoft.com/office/drawing/2014/main" id="{63369723-DF3E-9FE7-3331-ADF2E1ECCD95}"/>
                </a:ext>
              </a:extLst>
            </p:cNvPr>
            <p:cNvSpPr/>
            <p:nvPr/>
          </p:nvSpPr>
          <p:spPr>
            <a:xfrm>
              <a:off x="3393425" y="533358"/>
              <a:ext cx="474546" cy="474546"/>
            </a:xfrm>
            <a:prstGeom prst="downArrow">
              <a:avLst>
                <a:gd name="adj1" fmla="val 55000"/>
                <a:gd name="adj2" fmla="val 45000"/>
              </a:avLst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D"/>
            </a:p>
          </p:txBody>
        </p:sp>
        <p:sp>
          <p:nvSpPr>
            <p:cNvPr id="49" name="Arrow: Down 4">
              <a:extLst>
                <a:ext uri="{FF2B5EF4-FFF2-40B4-BE49-F238E27FC236}">
                  <a16:creationId xmlns:a16="http://schemas.microsoft.com/office/drawing/2014/main" id="{0530877A-7E79-E34B-B670-E2A413ED3D58}"/>
                </a:ext>
              </a:extLst>
            </p:cNvPr>
            <p:cNvSpPr txBox="1"/>
            <p:nvPr/>
          </p:nvSpPr>
          <p:spPr>
            <a:xfrm>
              <a:off x="3500198" y="533358"/>
              <a:ext cx="261000" cy="357096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670" tIns="26670" rIns="26670" bIns="2667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100" kern="1200" dirty="0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D8E9581-A9EA-B774-8214-A85480A88EF1}"/>
              </a:ext>
            </a:extLst>
          </p:cNvPr>
          <p:cNvSpPr/>
          <p:nvPr/>
        </p:nvSpPr>
        <p:spPr>
          <a:xfrm>
            <a:off x="98026" y="1424564"/>
            <a:ext cx="11986185" cy="399289"/>
          </a:xfrm>
          <a:prstGeom prst="rect">
            <a:avLst/>
          </a:prstGeom>
          <a:gradFill flip="none" rotWithShape="1">
            <a:gsLst>
              <a:gs pos="0">
                <a:srgbClr val="E97132"/>
              </a:gs>
              <a:gs pos="40000">
                <a:srgbClr val="D8B11D"/>
              </a:gs>
              <a:gs pos="70000">
                <a:srgbClr val="8EB21E"/>
              </a:gs>
              <a:gs pos="100000">
                <a:srgbClr val="196B24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403355-81D8-2740-150E-881B1FFCEB6B}"/>
              </a:ext>
            </a:extLst>
          </p:cNvPr>
          <p:cNvSpPr txBox="1"/>
          <p:nvPr/>
        </p:nvSpPr>
        <p:spPr>
          <a:xfrm>
            <a:off x="98026" y="1424564"/>
            <a:ext cx="2890501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400" b="1" dirty="0">
                <a:solidFill>
                  <a:schemeClr val="bg1"/>
                </a:solidFill>
              </a:rPr>
              <a:t>STAGES</a:t>
            </a:r>
            <a:endParaRPr lang="en-US" sz="1400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A8F3A-A0F6-4E4C-CD30-B6EF4F4C70D5}"/>
              </a:ext>
            </a:extLst>
          </p:cNvPr>
          <p:cNvSpPr txBox="1"/>
          <p:nvPr/>
        </p:nvSpPr>
        <p:spPr>
          <a:xfrm>
            <a:off x="4636892" y="1432090"/>
            <a:ext cx="1620032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b="1" dirty="0">
                <a:solidFill>
                  <a:schemeClr val="bg1"/>
                </a:solidFill>
              </a:rPr>
              <a:t>DESCRIPTION</a:t>
            </a:r>
            <a:endParaRPr lang="en-US" sz="1400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42D99E-4685-6458-85D0-DC48E8BEFB71}"/>
              </a:ext>
            </a:extLst>
          </p:cNvPr>
          <p:cNvSpPr txBox="1"/>
          <p:nvPr/>
        </p:nvSpPr>
        <p:spPr>
          <a:xfrm>
            <a:off x="9902470" y="1442555"/>
            <a:ext cx="1294558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b="1" dirty="0">
                <a:solidFill>
                  <a:schemeClr val="bg1"/>
                </a:solidFill>
              </a:rPr>
              <a:t>OUTPUT</a:t>
            </a:r>
            <a:endParaRPr lang="en-US" sz="1400" b="1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9736095"/>
      </p:ext>
    </p:extLst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6C730-CCFA-8EDC-CFCE-A0E7D508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DB1BB3-E06A-81F2-4704-F1810D8405BF}"/>
              </a:ext>
            </a:extLst>
          </p:cNvPr>
          <p:cNvSpPr txBox="1"/>
          <p:nvPr/>
        </p:nvSpPr>
        <p:spPr>
          <a:xfrm>
            <a:off x="1143901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Change Advisory Board (CAB) - Governance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3DAF555C-9013-9553-14FB-BE770D2BEE7D}"/>
              </a:ext>
            </a:extLst>
          </p:cNvPr>
          <p:cNvSpPr txBox="1"/>
          <p:nvPr/>
        </p:nvSpPr>
        <p:spPr>
          <a:xfrm>
            <a:off x="1143901" y="550735"/>
            <a:ext cx="1083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Cross-functional team in that evaluates, prioritizes, and authorizes changes in PROD to minimize risk and service disruptions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29F1B1-9CDA-0778-0ED5-56A71C85C320}"/>
              </a:ext>
            </a:extLst>
          </p:cNvPr>
          <p:cNvGraphicFramePr>
            <a:graphicFrameLocks noGrp="1"/>
          </p:cNvGraphicFramePr>
          <p:nvPr/>
        </p:nvGraphicFramePr>
        <p:xfrm>
          <a:off x="209059" y="1362717"/>
          <a:ext cx="11759380" cy="5344855"/>
        </p:xfrm>
        <a:graphic>
          <a:graphicData uri="http://schemas.openxmlformats.org/drawingml/2006/table">
            <a:tbl>
              <a:tblPr/>
              <a:tblGrid>
                <a:gridCol w="1099041">
                  <a:extLst>
                    <a:ext uri="{9D8B030D-6E8A-4147-A177-3AD203B41FA5}">
                      <a16:colId xmlns:a16="http://schemas.microsoft.com/office/drawing/2014/main" val="300977833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136548412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915168928"/>
                    </a:ext>
                  </a:extLst>
                </a:gridCol>
                <a:gridCol w="1266371">
                  <a:extLst>
                    <a:ext uri="{9D8B030D-6E8A-4147-A177-3AD203B41FA5}">
                      <a16:colId xmlns:a16="http://schemas.microsoft.com/office/drawing/2014/main" val="689771564"/>
                    </a:ext>
                  </a:extLst>
                </a:gridCol>
                <a:gridCol w="1050068">
                  <a:extLst>
                    <a:ext uri="{9D8B030D-6E8A-4147-A177-3AD203B41FA5}">
                      <a16:colId xmlns:a16="http://schemas.microsoft.com/office/drawing/2014/main" val="1774385753"/>
                    </a:ext>
                  </a:extLst>
                </a:gridCol>
              </a:tblGrid>
              <a:tr h="36057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Roles</a:t>
                      </a:r>
                    </a:p>
                  </a:txBody>
                  <a:tcPr marL="5048" marR="5048" marT="504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Key Responsibilities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Assignee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CAB Approval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67329"/>
                  </a:ext>
                </a:extLst>
              </a:tr>
              <a:tr h="22536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Regular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Emergency 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561351"/>
                  </a:ext>
                </a:extLst>
              </a:tr>
              <a:tr h="786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CAB  Sponsor</a:t>
                      </a:r>
                    </a:p>
                  </a:txBody>
                  <a:tcPr marL="5048" marR="5048" marT="504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3663" indent="0"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Provide final approval or escalation decision for high-risk, high-impact, emergency or strategic IT changes.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Ensure changes align with business strategy, regulatory requirements, and risk management standards.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Resolve cross-department conflicts or prioritization issues related to major or emergency changes.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Ensure adequate resources, capabilities, and controls exist to manage IT changes safely.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Head of IT / CTO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Optional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93923"/>
                  </a:ext>
                </a:extLst>
              </a:tr>
              <a:tr h="11085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CAB Owner</a:t>
                      </a:r>
                    </a:p>
                  </a:txBody>
                  <a:tcPr marL="5048" marR="5048" marT="504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93663" indent="0"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Define and maintain the CAB governance framework and policies.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Ensure CAB decisions align with IT strategy, risk management, and business objectives.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Approve or escalate high-risk, critical or emergency changes.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Ensure proper stakeholder representation in CAB.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Monitor the effectiveness of change management and CAB decisions.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Monitor  and report change performance metrics (e.g., success rate, incidents after change, deployment stability).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Report major change initiatives, risks, and outcomes to Head of IT or BOM when necessary</a:t>
                      </a:r>
                    </a:p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Head of IT Ops &amp; Infra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32704"/>
                  </a:ext>
                </a:extLst>
              </a:tr>
              <a:tr h="13188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CAB Manager</a:t>
                      </a:r>
                    </a:p>
                  </a:txBody>
                  <a:tcPr marL="5048" marR="5048" marT="504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93663" indent="0"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Schedule and facilitate CAB meetings.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Review submitted change requests (RFCs) for completeness before CAB review.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Prepare and distribute CAB agenda, documentation, and change impact analysis.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Coordinate with change owners, release teams, and stakeholders.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Document CAB decisions, approvals, rejections, and action items.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Track change implementation status and post-implementation reviews.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Ensure changes follow the defined change management workflow.</a:t>
                      </a:r>
                    </a:p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Head of IT </a:t>
                      </a:r>
                      <a:r>
                        <a:rPr lang="en-ID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DevSecOps</a:t>
                      </a:r>
                      <a:endParaRPr lang="en-ID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Mandatory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67643"/>
                  </a:ext>
                </a:extLst>
              </a:tr>
              <a:tr h="156201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CAB Member</a:t>
                      </a:r>
                    </a:p>
                  </a:txBody>
                  <a:tcPr marL="5048" marR="5048" marT="504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93663" indent="0"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Provide change requests approval and supporting approval documentation (SIT/UAT, Pen-Test &amp; Perf-Test Approval).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Provide assessment impact, risk, security, compliance, and operational readiness.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Provide technical or business input during CAB discussions include deployment, rollback &amp; operational plan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Ensure the changes does not negatively impact systems, customers, or operations in Production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Support post-implementation review and lessons learned when needed before changes handed over to IT Ops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Head of IT BA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Required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Required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209049"/>
                  </a:ext>
                </a:extLst>
              </a:tr>
              <a:tr h="15620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Head of IT DEV/CORE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169604"/>
                  </a:ext>
                </a:extLst>
              </a:tr>
              <a:tr h="15620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Head of IT DATA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24640"/>
                  </a:ext>
                </a:extLst>
              </a:tr>
              <a:tr h="15620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ID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PMO / PO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872177"/>
                  </a:ext>
                </a:extLst>
              </a:tr>
              <a:tr h="58975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SME or 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Business Stakeholder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(if required)</a:t>
                      </a:r>
                    </a:p>
                  </a:txBody>
                  <a:tcPr marL="5048" marR="5048" marT="504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722790"/>
                  </a:ext>
                </a:extLst>
              </a:tr>
            </a:tbl>
          </a:graphicData>
        </a:graphic>
      </p:graphicFrame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0B5FACD-038B-C030-1D9A-CD5D7B311B2E}"/>
              </a:ext>
            </a:extLst>
          </p:cNvPr>
          <p:cNvSpPr/>
          <p:nvPr/>
        </p:nvSpPr>
        <p:spPr>
          <a:xfrm>
            <a:off x="1" y="139700"/>
            <a:ext cx="1021469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3B7D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roject plan ">
            <a:extLst>
              <a:ext uri="{FF2B5EF4-FFF2-40B4-BE49-F238E27FC236}">
                <a16:creationId xmlns:a16="http://schemas.microsoft.com/office/drawing/2014/main" id="{5468A755-96C0-5F38-CF2B-1E68E9D05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59" y="252465"/>
            <a:ext cx="532395" cy="53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753458"/>
      </p:ext>
    </p:extLst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5B2F-E08E-F964-2673-0480E338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BCB7D41-1FBF-9F33-CA0A-6AA12ED47B34}"/>
              </a:ext>
            </a:extLst>
          </p:cNvPr>
          <p:cNvSpPr/>
          <p:nvPr/>
        </p:nvSpPr>
        <p:spPr>
          <a:xfrm>
            <a:off x="1" y="139700"/>
            <a:ext cx="1021469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3B7D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Project plan ">
            <a:extLst>
              <a:ext uri="{FF2B5EF4-FFF2-40B4-BE49-F238E27FC236}">
                <a16:creationId xmlns:a16="http://schemas.microsoft.com/office/drawing/2014/main" id="{36D41461-AF07-BBC1-1127-18AB818F3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59" y="252465"/>
            <a:ext cx="532395" cy="53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E38001-F8EC-EF91-629B-243F5828DA0E}"/>
              </a:ext>
            </a:extLst>
          </p:cNvPr>
          <p:cNvSpPr txBox="1"/>
          <p:nvPr/>
        </p:nvSpPr>
        <p:spPr>
          <a:xfrm>
            <a:off x="1143901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CAB Submission, Forum and Deployment Schedule 2026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8382D869-EFA3-172B-22F2-05D6104FC42B}"/>
              </a:ext>
            </a:extLst>
          </p:cNvPr>
          <p:cNvSpPr txBox="1"/>
          <p:nvPr/>
        </p:nvSpPr>
        <p:spPr>
          <a:xfrm>
            <a:off x="1143901" y="550735"/>
            <a:ext cx="11048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will be guideline schedule for Project, Bug fixes or CR to release changes in PROD environment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404A3-E401-8B51-D494-1AD76012C801}"/>
              </a:ext>
            </a:extLst>
          </p:cNvPr>
          <p:cNvSpPr txBox="1"/>
          <p:nvPr/>
        </p:nvSpPr>
        <p:spPr>
          <a:xfrm>
            <a:off x="434361" y="3161457"/>
            <a:ext cx="4727929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CAB Submission : </a:t>
            </a:r>
            <a:r>
              <a:rPr lang="en-US" sz="1400" i="0" dirty="0">
                <a:effectLst/>
              </a:rPr>
              <a:t>Every </a:t>
            </a:r>
            <a:r>
              <a:rPr lang="en-US" sz="1400" b="1" i="0" dirty="0">
                <a:effectLst/>
              </a:rPr>
              <a:t>Monday </a:t>
            </a:r>
            <a:r>
              <a:rPr lang="en-US" sz="1400" b="1" dirty="0"/>
              <a:t>at 3PM</a:t>
            </a:r>
            <a:endParaRPr lang="en-US" sz="1400" b="1" i="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1B355B-22F5-7C60-6FA2-86EE0BFC07A7}"/>
              </a:ext>
            </a:extLst>
          </p:cNvPr>
          <p:cNvSpPr/>
          <p:nvPr/>
        </p:nvSpPr>
        <p:spPr>
          <a:xfrm>
            <a:off x="121095" y="3579151"/>
            <a:ext cx="313267" cy="220133"/>
          </a:xfrm>
          <a:prstGeom prst="rect">
            <a:avLst/>
          </a:prstGeom>
          <a:solidFill>
            <a:srgbClr val="83CC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14D75-9EE2-58BE-FD28-66D00589FC3C}"/>
              </a:ext>
            </a:extLst>
          </p:cNvPr>
          <p:cNvSpPr/>
          <p:nvPr/>
        </p:nvSpPr>
        <p:spPr>
          <a:xfrm>
            <a:off x="121096" y="4213391"/>
            <a:ext cx="313267" cy="220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D5086-3056-0EAC-0780-2163BD0F42B8}"/>
              </a:ext>
            </a:extLst>
          </p:cNvPr>
          <p:cNvSpPr txBox="1"/>
          <p:nvPr/>
        </p:nvSpPr>
        <p:spPr>
          <a:xfrm>
            <a:off x="434360" y="3814687"/>
            <a:ext cx="4360640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Regular Deployment :  </a:t>
            </a:r>
            <a:r>
              <a:rPr lang="en-US" sz="1400" i="0" dirty="0">
                <a:effectLst/>
              </a:rPr>
              <a:t>Every </a:t>
            </a:r>
            <a:r>
              <a:rPr lang="en-US" sz="1400" b="1" i="0" dirty="0">
                <a:effectLst/>
              </a:rPr>
              <a:t>Thursday EOD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10FF5-3043-B597-67CB-09AEECFAE1D0}"/>
              </a:ext>
            </a:extLst>
          </p:cNvPr>
          <p:cNvSpPr txBox="1"/>
          <p:nvPr/>
        </p:nvSpPr>
        <p:spPr>
          <a:xfrm>
            <a:off x="434361" y="3505771"/>
            <a:ext cx="5227825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CAB Forum (Go / No-Go) :  </a:t>
            </a:r>
            <a:r>
              <a:rPr lang="en-US" sz="1400" i="0" dirty="0">
                <a:effectLst/>
              </a:rPr>
              <a:t>Every </a:t>
            </a:r>
            <a:r>
              <a:rPr lang="en-US" sz="1400" b="1" i="0" dirty="0">
                <a:effectLst/>
              </a:rPr>
              <a:t>Tuesday at 2 PM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846A1D-C518-D9B8-B268-46904007F694}"/>
              </a:ext>
            </a:extLst>
          </p:cNvPr>
          <p:cNvSpPr/>
          <p:nvPr/>
        </p:nvSpPr>
        <p:spPr>
          <a:xfrm>
            <a:off x="121096" y="3896271"/>
            <a:ext cx="313267" cy="22013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A175C1-CE00-0931-C527-C4A4A8EBC44C}"/>
              </a:ext>
            </a:extLst>
          </p:cNvPr>
          <p:cNvSpPr/>
          <p:nvPr/>
        </p:nvSpPr>
        <p:spPr>
          <a:xfrm>
            <a:off x="121094" y="3250240"/>
            <a:ext cx="313267" cy="220133"/>
          </a:xfrm>
          <a:prstGeom prst="rect">
            <a:avLst/>
          </a:prstGeom>
          <a:solidFill>
            <a:srgbClr val="FBE2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AAD56-D14B-AA3A-5A02-77EB77F9EF7D}"/>
              </a:ext>
            </a:extLst>
          </p:cNvPr>
          <p:cNvSpPr txBox="1"/>
          <p:nvPr/>
        </p:nvSpPr>
        <p:spPr>
          <a:xfrm>
            <a:off x="442826" y="4127192"/>
            <a:ext cx="7123834" cy="36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400" dirty="0"/>
              <a:t>No Deployment (Freeze Period) :  Every </a:t>
            </a:r>
            <a:r>
              <a:rPr lang="en-US" sz="1400" b="1" dirty="0"/>
              <a:t>W4 EOM (Closing) &amp; W1 Jan (New Year)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BDC2139-B0D4-7D28-53B9-C21970802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715468"/>
              </p:ext>
            </p:extLst>
          </p:nvPr>
        </p:nvGraphicFramePr>
        <p:xfrm>
          <a:off x="121094" y="1246170"/>
          <a:ext cx="11949812" cy="1785854"/>
        </p:xfrm>
        <a:graphic>
          <a:graphicData uri="http://schemas.openxmlformats.org/drawingml/2006/table">
            <a:tbl>
              <a:tblPr/>
              <a:tblGrid>
                <a:gridCol w="1130392">
                  <a:extLst>
                    <a:ext uri="{9D8B030D-6E8A-4147-A177-3AD203B41FA5}">
                      <a16:colId xmlns:a16="http://schemas.microsoft.com/office/drawing/2014/main" val="3636108431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2969873544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584722277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033041247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115832514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3223910550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872314763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488252949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414928775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2386027593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856404996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534591785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292901537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1928874250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44545574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094078723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14352730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409265047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3700973524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870158403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276034257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4047881501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3906504852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4271227188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492357950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689545826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1647528596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783831922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982339680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866233684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468109948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3038413065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626737865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525264551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4034647779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1291361931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113405811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622066319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437351344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2137789976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872505856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174877893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216373757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2203456700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1823236778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362442908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669863365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299468424"/>
                    </a:ext>
                  </a:extLst>
                </a:gridCol>
                <a:gridCol w="201855">
                  <a:extLst>
                    <a:ext uri="{9D8B030D-6E8A-4147-A177-3AD203B41FA5}">
                      <a16:colId xmlns:a16="http://schemas.microsoft.com/office/drawing/2014/main" val="531486340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141839841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1569486564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3506947996"/>
                    </a:ext>
                  </a:extLst>
                </a:gridCol>
                <a:gridCol w="209929">
                  <a:extLst>
                    <a:ext uri="{9D8B030D-6E8A-4147-A177-3AD203B41FA5}">
                      <a16:colId xmlns:a16="http://schemas.microsoft.com/office/drawing/2014/main" val="4281501328"/>
                    </a:ext>
                  </a:extLst>
                </a:gridCol>
              </a:tblGrid>
              <a:tr h="255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Year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gridSpan="5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90835"/>
                  </a:ext>
                </a:extLst>
              </a:tr>
              <a:tr h="255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Quarter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02367"/>
                  </a:ext>
                </a:extLst>
              </a:tr>
              <a:tr h="255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Month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Jan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Feb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Mar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Apr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May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Jun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Jul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Aug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Sep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Oct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Nov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Dec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923139"/>
                  </a:ext>
                </a:extLst>
              </a:tr>
              <a:tr h="255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Week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5903"/>
                  </a:ext>
                </a:extLst>
              </a:tr>
              <a:tr h="255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CAB Submission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490698"/>
                  </a:ext>
                </a:extLst>
              </a:tr>
              <a:tr h="255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CAB Forum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0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19466"/>
                  </a:ext>
                </a:extLst>
              </a:tr>
              <a:tr h="255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1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Deployment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30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12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19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26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10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17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24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31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85988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3158DAF-9F35-21F9-FF7E-D33BE3DADA03}"/>
              </a:ext>
            </a:extLst>
          </p:cNvPr>
          <p:cNvSpPr txBox="1"/>
          <p:nvPr/>
        </p:nvSpPr>
        <p:spPr>
          <a:xfrm>
            <a:off x="442825" y="4490497"/>
            <a:ext cx="121737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Emergency Deployment : </a:t>
            </a:r>
            <a:r>
              <a:rPr lang="en-US" sz="1400" b="1" dirty="0"/>
              <a:t>Any request must follow guideline, assessment and approval mechanism from CAB Manager, CAB Owner &amp; CAB Sponsor </a:t>
            </a:r>
            <a:endParaRPr lang="en-ID" sz="14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129B5E-8B21-E909-A14E-C127E8AF64D4}"/>
              </a:ext>
            </a:extLst>
          </p:cNvPr>
          <p:cNvSpPr/>
          <p:nvPr/>
        </p:nvSpPr>
        <p:spPr>
          <a:xfrm>
            <a:off x="121093" y="4530511"/>
            <a:ext cx="313267" cy="220133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47220915"/>
      </p:ext>
    </p:extLst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2248-4E48-669E-4755-5BAFEE821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89676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FB8F-5218-DFF3-9834-3034FC39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E4DB122-29BD-1313-1A5F-55F8EF6FBF12}"/>
              </a:ext>
            </a:extLst>
          </p:cNvPr>
          <p:cNvSpPr/>
          <p:nvPr/>
        </p:nvSpPr>
        <p:spPr>
          <a:xfrm>
            <a:off x="1" y="139700"/>
            <a:ext cx="1492246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B3844-7979-2B43-1C5F-41650E965111}"/>
              </a:ext>
            </a:extLst>
          </p:cNvPr>
          <p:cNvSpPr txBox="1"/>
          <p:nvPr/>
        </p:nvSpPr>
        <p:spPr>
          <a:xfrm>
            <a:off x="1492247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CAB Submission - Document Registration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73D0A8FB-BF78-0E82-6E20-DC6BB0ACE663}"/>
              </a:ext>
            </a:extLst>
          </p:cNvPr>
          <p:cNvSpPr txBox="1"/>
          <p:nvPr/>
        </p:nvSpPr>
        <p:spPr>
          <a:xfrm>
            <a:off x="1492247" y="550735"/>
            <a:ext cx="10831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Ensure the release scope, readiness, and deployment schedule are clearly defined and properly documented</a:t>
            </a:r>
          </a:p>
        </p:txBody>
      </p:sp>
    </p:spTree>
    <p:extLst>
      <p:ext uri="{BB962C8B-B14F-4D97-AF65-F5344CB8AC3E}">
        <p14:creationId xmlns:p14="http://schemas.microsoft.com/office/powerpoint/2010/main" val="2830713108"/>
      </p:ext>
    </p:extLst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3D7D6-9983-7959-5A49-6B418DAC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02CA9B-8E23-FE26-735D-2D69BAAAC180}"/>
              </a:ext>
            </a:extLst>
          </p:cNvPr>
          <p:cNvSpPr/>
          <p:nvPr/>
        </p:nvSpPr>
        <p:spPr>
          <a:xfrm>
            <a:off x="1" y="139700"/>
            <a:ext cx="1492246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D8B1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Verification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E0159-7F9B-AC5D-1F88-B6E25542A01F}"/>
              </a:ext>
            </a:extLst>
          </p:cNvPr>
          <p:cNvSpPr txBox="1"/>
          <p:nvPr/>
        </p:nvSpPr>
        <p:spPr>
          <a:xfrm>
            <a:off x="1492247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CAB Forum &amp; Approval Go / No-Go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E60AA54D-0447-8FC9-1148-4F2AA1DBEDBE}"/>
              </a:ext>
            </a:extLst>
          </p:cNvPr>
          <p:cNvSpPr txBox="1"/>
          <p:nvPr/>
        </p:nvSpPr>
        <p:spPr>
          <a:xfrm>
            <a:off x="1492247" y="550735"/>
            <a:ext cx="10831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confirm that the release is technically and operationally ready before production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3041864571"/>
      </p:ext>
    </p:extLst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F04E-DC41-44DF-4BD4-CFFF36167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10CB340-0F75-8E77-BFE5-6B59A5E53901}"/>
              </a:ext>
            </a:extLst>
          </p:cNvPr>
          <p:cNvSpPr/>
          <p:nvPr/>
        </p:nvSpPr>
        <p:spPr>
          <a:xfrm>
            <a:off x="1" y="139700"/>
            <a:ext cx="1492246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6B2BA-4859-0B41-C04C-CF628EAF1D4C}"/>
              </a:ext>
            </a:extLst>
          </p:cNvPr>
          <p:cNvSpPr txBox="1"/>
          <p:nvPr/>
        </p:nvSpPr>
        <p:spPr>
          <a:xfrm>
            <a:off x="1492247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Deployment Execution &amp; Notification (Success/Failed)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F1DC17AE-ECA0-978E-58D1-39DBA69CA4B7}"/>
              </a:ext>
            </a:extLst>
          </p:cNvPr>
          <p:cNvSpPr txBox="1"/>
          <p:nvPr/>
        </p:nvSpPr>
        <p:spPr>
          <a:xfrm>
            <a:off x="1492247" y="550735"/>
            <a:ext cx="10831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Communicate execution plan and control the production deployment or rollback process.</a:t>
            </a:r>
          </a:p>
        </p:txBody>
      </p:sp>
    </p:spTree>
    <p:extLst>
      <p:ext uri="{BB962C8B-B14F-4D97-AF65-F5344CB8AC3E}">
        <p14:creationId xmlns:p14="http://schemas.microsoft.com/office/powerpoint/2010/main" val="3719144646"/>
      </p:ext>
    </p:extLst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D780-49F1-B497-A731-F617FF3B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62ED75F-551A-8C2B-9296-B9913731E463}"/>
              </a:ext>
            </a:extLst>
          </p:cNvPr>
          <p:cNvSpPr/>
          <p:nvPr/>
        </p:nvSpPr>
        <p:spPr>
          <a:xfrm>
            <a:off x="1" y="139700"/>
            <a:ext cx="1492246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408E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Early Life Support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1265D-2F1F-34AD-CF70-FD1B01482615}"/>
              </a:ext>
            </a:extLst>
          </p:cNvPr>
          <p:cNvSpPr txBox="1"/>
          <p:nvPr/>
        </p:nvSpPr>
        <p:spPr>
          <a:xfrm>
            <a:off x="1492247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Hypercare Maintenance Period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5649EBEC-32B9-A9DC-459A-44487D570A86}"/>
              </a:ext>
            </a:extLst>
          </p:cNvPr>
          <p:cNvSpPr txBox="1"/>
          <p:nvPr/>
        </p:nvSpPr>
        <p:spPr>
          <a:xfrm>
            <a:off x="1492247" y="550735"/>
            <a:ext cx="10831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Provide heightened monitoring and rapid issue resolution after release to Production</a:t>
            </a:r>
          </a:p>
        </p:txBody>
      </p:sp>
    </p:spTree>
    <p:extLst>
      <p:ext uri="{BB962C8B-B14F-4D97-AF65-F5344CB8AC3E}">
        <p14:creationId xmlns:p14="http://schemas.microsoft.com/office/powerpoint/2010/main" val="981298297"/>
      </p:ext>
    </p:extLst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C6F8F-1338-35A0-954C-E4E6A894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471A56-D99B-EFDA-A4EF-89684FFCBBBA}"/>
              </a:ext>
            </a:extLst>
          </p:cNvPr>
          <p:cNvSpPr/>
          <p:nvPr/>
        </p:nvSpPr>
        <p:spPr>
          <a:xfrm>
            <a:off x="1" y="139700"/>
            <a:ext cx="1492246" cy="800100"/>
          </a:xfrm>
          <a:custGeom>
            <a:avLst/>
            <a:gdLst>
              <a:gd name="connsiteX0" fmla="*/ 0 w 1021469"/>
              <a:gd name="connsiteY0" fmla="*/ 0 h 800100"/>
              <a:gd name="connsiteX1" fmla="*/ 786520 w 1021469"/>
              <a:gd name="connsiteY1" fmla="*/ 0 h 800100"/>
              <a:gd name="connsiteX2" fmla="*/ 1021469 w 1021469"/>
              <a:gd name="connsiteY2" fmla="*/ 234949 h 800100"/>
              <a:gd name="connsiteX3" fmla="*/ 1021469 w 1021469"/>
              <a:gd name="connsiteY3" fmla="*/ 565151 h 800100"/>
              <a:gd name="connsiteX4" fmla="*/ 786520 w 1021469"/>
              <a:gd name="connsiteY4" fmla="*/ 800100 h 800100"/>
              <a:gd name="connsiteX5" fmla="*/ 0 w 1021469"/>
              <a:gd name="connsiteY5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1469" h="800100">
                <a:moveTo>
                  <a:pt x="0" y="0"/>
                </a:moveTo>
                <a:lnTo>
                  <a:pt x="786520" y="0"/>
                </a:lnTo>
                <a:cubicBezTo>
                  <a:pt x="916279" y="0"/>
                  <a:pt x="1021469" y="105190"/>
                  <a:pt x="1021469" y="234949"/>
                </a:cubicBezTo>
                <a:lnTo>
                  <a:pt x="1021469" y="565151"/>
                </a:lnTo>
                <a:cubicBezTo>
                  <a:pt x="1021469" y="694910"/>
                  <a:pt x="916279" y="800100"/>
                  <a:pt x="786520" y="800100"/>
                </a:cubicBezTo>
                <a:lnTo>
                  <a:pt x="0" y="800100"/>
                </a:lnTo>
                <a:close/>
              </a:path>
            </a:pathLst>
          </a:cu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Closure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7F3C9-19D8-16F7-7A45-912946B6E921}"/>
              </a:ext>
            </a:extLst>
          </p:cNvPr>
          <p:cNvSpPr txBox="1"/>
          <p:nvPr/>
        </p:nvSpPr>
        <p:spPr>
          <a:xfrm>
            <a:off x="1492247" y="127819"/>
            <a:ext cx="10571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Post Implementation Review (PIR) – BAU Maintenance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46" name="TextBox 5145">
            <a:extLst>
              <a:ext uri="{FF2B5EF4-FFF2-40B4-BE49-F238E27FC236}">
                <a16:creationId xmlns:a16="http://schemas.microsoft.com/office/drawing/2014/main" id="{0368EC7D-375C-1A8C-E06A-094F1709750A}"/>
              </a:ext>
            </a:extLst>
          </p:cNvPr>
          <p:cNvSpPr txBox="1"/>
          <p:nvPr/>
        </p:nvSpPr>
        <p:spPr>
          <a:xfrm>
            <a:off x="1492247" y="550735"/>
            <a:ext cx="10831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Formally close the release after confirming stability and capturing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3141806892"/>
      </p:ext>
    </p:extLst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2843E534651C4D8EF8D7C03BAB88AD" ma:contentTypeVersion="10" ma:contentTypeDescription="Create a new document." ma:contentTypeScope="" ma:versionID="24d280518dd300670cfe5744b0551ff9">
  <xsd:schema xmlns:xsd="http://www.w3.org/2001/XMLSchema" xmlns:xs="http://www.w3.org/2001/XMLSchema" xmlns:p="http://schemas.microsoft.com/office/2006/metadata/properties" xmlns:ns2="f88bd07b-57bd-4705-8fdc-c3c0c9076ef0" targetNamespace="http://schemas.microsoft.com/office/2006/metadata/properties" ma:root="true" ma:fieldsID="6f815b2a8d3982551174306882140a7c" ns2:_="">
    <xsd:import namespace="f88bd07b-57bd-4705-8fdc-c3c0c9076e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8bd07b-57bd-4705-8fdc-c3c0c9076e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390917e-72e7-437b-82ae-3bd8a161071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8bd07b-57bd-4705-8fdc-c3c0c9076e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0EB1EB-31DB-4884-9175-BFACBE53A4ED}">
  <ds:schemaRefs>
    <ds:schemaRef ds:uri="f88bd07b-57bd-4705-8fdc-c3c0c9076ef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365AFB-2EFA-41ED-88C7-DAA99CEB16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39CD86-B351-412F-967A-89F0268E2FCF}">
  <ds:schemaRefs>
    <ds:schemaRef ds:uri="http://schemas.microsoft.com/office/2006/metadata/properties"/>
    <ds:schemaRef ds:uri="http://purl.org/dc/elements/1.1/"/>
    <ds:schemaRef ds:uri="f88bd07b-57bd-4705-8fdc-c3c0c9076ef0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1097</Words>
  <Application>Microsoft Office PowerPoint</Application>
  <PresentationFormat>Widescreen</PresentationFormat>
  <Paragraphs>316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 Wijaya</dc:creator>
  <cp:lastModifiedBy>Rangky Yudhitama</cp:lastModifiedBy>
  <cp:revision>23</cp:revision>
  <dcterms:created xsi:type="dcterms:W3CDTF">2025-06-03T03:38:32Z</dcterms:created>
  <dcterms:modified xsi:type="dcterms:W3CDTF">2026-03-10T06:33:46Z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0x010100342843E534651C4D8EF8D7C03BAB88AD</vt:lpwstr>
  </property>
  <property fmtid="{D5CDD505-2E9C-101B-9397-08002B2CF9AE}" pid="3" name="MediaServiceImageTags">
    <vt:lpwstr/>
  </property>
</Properties>
</file>