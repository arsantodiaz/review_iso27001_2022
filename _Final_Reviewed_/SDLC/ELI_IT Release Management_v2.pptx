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26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PT Equity Life Indonesia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Release &amp; Change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Management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IT Governance Framework — Hybrid CI/CD + CAB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 xml:space="preserve">Version 2.0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 xml:space="preserve">|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 xml:space="preserve">  ISO/IEC 27001:2022 Aligned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 xml:space="preserve">|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 xml:space="preserve">  POJK No.11/2022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 xml:space="preserve">|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 xml:space="preserve">  ITIL 4 Change Enablement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IT DevSecOps  |  March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Agenda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Overview of topics covered in this presentation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2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0040" y="1810512"/>
            <a:ext cx="3474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1051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18105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Release Management Flow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19842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5-stage process overview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249424"/>
            <a:ext cx="3474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494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2494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Model 3 Jalur Approval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4231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Automated · Hybrid · CAB Forum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688336"/>
            <a:ext cx="3474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8833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26883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Domain Coverage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28620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Application, Infrastructure, Network, Security, Data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127248"/>
            <a:ext cx="3474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272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1272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Change Classification Matrix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30098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 · Normal · Major · Emergency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3474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56616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35661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CI/CD Pipeline Gates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37398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mandatory security &amp; quality gates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4005072"/>
            <a:ext cx="3474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0050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0050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Segregation of Duties (SoD)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178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ISO 27001 A.5.3 compliance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1810512"/>
            <a:ext cx="3474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81051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57800" y="18105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CAB Governance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19842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Roles, responsibilities &amp; approval authority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249424"/>
            <a:ext cx="3474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2494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57800" y="22494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Go / No-Go Checklist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57800" y="24231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Pre-deployment readiness checklist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46320" y="2688336"/>
            <a:ext cx="3474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68833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57800" y="26883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Emergency Change Fast Track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57800" y="28620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CAB emergency procedure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46320" y="3127248"/>
            <a:ext cx="3474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1272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57800" y="31272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KPI &amp; Metrics Dashboard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57800" y="330098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Performance indicators &amp; targets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46320" y="3566160"/>
            <a:ext cx="3474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56616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57800" y="35661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CAB Schedule 2026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57800" y="37398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Submission, forum &amp; deployment calendar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Release Management 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5-stage structured process for all changes entering production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3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155448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Release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0" y="2057400"/>
            <a:ext cx="164592" cy="182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06040"/>
            <a:ext cx="1554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6517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Define scope, timeline, risk. Submit RFC. Automated: CI/CD pipeline triggers. CAB: weekly submission.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93392" y="1737360"/>
            <a:ext cx="155448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93392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Release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47872" y="2057400"/>
            <a:ext cx="164592" cy="182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93392" y="2606040"/>
            <a:ext cx="1554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66544" y="26517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SIT/UAT, security scan, peer review. Automated: pipeline gates. CAB: impact analysis &amp; go/no-go.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12464" y="1737360"/>
            <a:ext cx="15544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2464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12464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Release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66944" y="2057400"/>
            <a:ext cx="164592" cy="182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12464" y="2606040"/>
            <a:ext cx="1554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85616" y="26517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Execute to production with rollback plan. Automated: CD pipeline. CAB: scheduled Thursday window.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31536" y="1737360"/>
            <a:ext cx="155448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31536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31536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Early Life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Support (ELS)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86016" y="2057400"/>
            <a:ext cx="164592" cy="182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31536" y="2606040"/>
            <a:ext cx="1554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4688" y="26517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Hypercare monitoring 5 business days. All jalur: SLA monitoring, incident escalation, rollback if needed.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50608" y="1737360"/>
            <a:ext cx="1554480" cy="8229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5060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50608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Release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Closure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50608" y="2606040"/>
            <a:ext cx="1554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26517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PIR, lesson learned, CMS update. CAB closure report or pipeline run report. KPI recorded.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" y="4434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Applies to all jalur: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37360" y="4471416"/>
            <a:ext cx="13716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38528" y="4434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🤖 Automated (CI/CD pipeline only)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60520" y="4471416"/>
            <a:ext cx="13716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61688" y="4434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🔀 Hybrid (CI/CD + async approval)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83680" y="4471416"/>
            <a:ext cx="137160" cy="137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4434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👥 CAB Forum (Major / Emergency only)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Model 3 Jalur Approval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Proportional governance — risk-based approval pathway selection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4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737360"/>
            <a:ext cx="2788920" cy="2971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37360"/>
            <a:ext cx="27889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JALUR 1 — Automated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4231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When: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4712" y="24231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Standard changes — low risk, well-tested, pre-approved patterns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277063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Examples: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4712" y="27706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Hotfix patch, config tune, scheduled script, minor UI update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311810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Approval: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4712" y="31181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Pipeline gates only — no human approval needed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34655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Lead Time: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4712" y="34655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Minutes–Hours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38130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Domains: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4712" y="38130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Application, Infrastructure (IaC)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41605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Gates: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4712" y="41605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SAST · SCA · Unit Test ≥80% · Peer Review · Signed Artifact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0" y="1737360"/>
            <a:ext cx="2788920" cy="2971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1737360"/>
            <a:ext cx="27889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🔀  JALUR 2 — Hybrid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0128" y="24231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When: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069080" y="24231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Normal changes — moderate risk, new feature or cross-system impact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10128" y="277063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Examples: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69080" y="27706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New API endpoint, DB schema change, firewall rule, network config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10128" y="311810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Approval: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69080" y="31181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CI/CD pipeline + async approval via ticket (SLA: 1–2 business days)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10128" y="34655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Lead Time: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069080" y="34655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Days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10128" y="38130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Domains: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69080" y="38130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All 5 domains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10128" y="41605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Gates: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69080" y="41605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Full pipeline gates + Change Owner + 1 Senior Approver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44768" y="1737360"/>
            <a:ext cx="2788920" cy="2971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44768" y="1737360"/>
            <a:ext cx="27889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👥  JALUR 3 — CAB Forum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54496" y="24231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When: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13448" y="24231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Major / Emergency changes — high risk, regulatory impact, org-wide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54496" y="277063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Examples: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13448" y="27706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Core system migration, cloud cutover, emergency incident patch, compliance change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54496" y="311810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Approval: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013448" y="31181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Synchronous CAB Forum meeting — CAB Manager + Owner (+ Sponsor for Emergency)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54496" y="34655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Lead Time: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013448" y="34655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Weekly forum / Immediate for Emergency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54496" y="38130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Domains: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013448" y="38130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All 5 domains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54496" y="41605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Gates: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013448" y="41605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Full gates + Go/No-Go checklist + CAB minutes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20040" y="473659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ℹ️  Change Owner selects the jalur based on the Change Classification Matrix. CAB Manager may escalate to a higher jalur at any time.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Domain Coverage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Change management applies across all 5 IT domains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5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28600" y="1719072"/>
            <a:ext cx="1572768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71907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267712"/>
            <a:ext cx="1572768" cy="713232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3042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5A82"/>
                </a:solidFill>
              </a:rPr>
              <a:t>Scope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92608" y="247802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Web/mobile apps, APIs, microservices, integrations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2980944"/>
            <a:ext cx="1572768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01752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5A82"/>
                </a:solidFill>
              </a:rPr>
              <a:t>Tools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92608" y="319125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GitLab CI/CD, SonarQube, JIRA, Nexus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" y="3694176"/>
            <a:ext cx="1572768" cy="713232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73075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5A82"/>
                </a:solidFill>
              </a:rPr>
              <a:t>Jalur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92608" y="390448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Automated / Hybrid / CAB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4407408"/>
            <a:ext cx="1572768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4443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5A82"/>
                </a:solidFill>
              </a:rPr>
              <a:t>Controls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92608" y="461772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SAST, SCA, UAT, Peer Review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965960" y="1719072"/>
            <a:ext cx="1572768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171907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🖥️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65960" y="2267712"/>
            <a:ext cx="1572768" cy="713232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29968" y="23042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Scope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029968" y="247802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Servers, VMs, cloud resources, storage, IaC (Terraform, Ansible, Helm)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65960" y="2980944"/>
            <a:ext cx="1572768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29968" y="301752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Tools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029968" y="319125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Terraform Cloud, Ansible AWX, Helm, Checkov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965960" y="3694176"/>
            <a:ext cx="1572768" cy="713232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9968" y="373075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Jalur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029968" y="390448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Hybrid / CAB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965960" y="4407408"/>
            <a:ext cx="1572768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9968" y="4443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Controls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029968" y="461772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IaC lint, drift detection, approvals, rollback plan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703320" y="1719072"/>
            <a:ext cx="157276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171907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Network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703320" y="2267712"/>
            <a:ext cx="1572768" cy="713232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67328" y="23042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Scope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767328" y="247802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Routers, switches, firewalls, VPN, DNS, load balancers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703320" y="2980944"/>
            <a:ext cx="1572768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67328" y="301752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Tools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767328" y="319125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GitOps (network-as-code), Nautobot, Batfish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03320" y="3694176"/>
            <a:ext cx="1572768" cy="713232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67328" y="373075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Jalur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767328" y="390448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Hybrid / CAB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703320" y="4407408"/>
            <a:ext cx="1572768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67328" y="4443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Controls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767328" y="461772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Config diff review, connectivity test, CAB approval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40680" y="1719072"/>
            <a:ext cx="1572768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40680" y="171907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40680" y="2267712"/>
            <a:ext cx="1572768" cy="713232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04688" y="23042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Scope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504688" y="247802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SSL/TLS, IAM policies, WAF rules, SIEM config, cert rotation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440680" y="2980944"/>
            <a:ext cx="1572768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04688" y="301752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Tools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504688" y="319125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Vault, Trivy, OWASP ZAP, Wazuh/SIEM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440680" y="3694176"/>
            <a:ext cx="1572768" cy="713232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04688" y="373075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Jalur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504688" y="390448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Hybrid / CAB (always ≥ Hybrid)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440680" y="4407408"/>
            <a:ext cx="1572768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04688" y="4443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Controls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504688" y="461772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Security review, pen-test, CISO/SecOps sign-off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178040" y="1719072"/>
            <a:ext cx="1572768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78040" y="171907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🗄️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178040" y="2267712"/>
            <a:ext cx="1572768" cy="713232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42048" y="23042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1295C"/>
                </a:solidFill>
              </a:rPr>
              <a:t>Scope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242048" y="247802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Database schema, migration scripts, ETL pipelines, data retention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178040" y="2980944"/>
            <a:ext cx="1572768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42048" y="301752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1295C"/>
                </a:solidFill>
              </a:rPr>
              <a:t>Tools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7242048" y="319125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Liquibase/Flyway, dbt, backup tools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178040" y="3694176"/>
            <a:ext cx="1572768" cy="713232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242048" y="373075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1295C"/>
                </a:solidFill>
              </a:rPr>
              <a:t>Jalur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242048" y="390448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Hybrid / CAB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178040" y="4407408"/>
            <a:ext cx="1572768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42048" y="4443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1295C"/>
                </a:solidFill>
              </a:rPr>
              <a:t>Controls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242048" y="461772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Schema review, data backup verified, rollback script ready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Change Classification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Risk-based classification determines jalur and approval level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6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737360"/>
            <a:ext cx="178308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737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Criteria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39112" y="1737360"/>
            <a:ext cx="157276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4832" y="17373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Standard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(Jalur 1 🤖)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11880" y="1737360"/>
            <a:ext cx="1572768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7373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Normal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(Jalur 2 🔀)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84648" y="1737360"/>
            <a:ext cx="157276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17373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Major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(Jalur 3 👥)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57416" y="1737360"/>
            <a:ext cx="157276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17373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Emergency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(Jalur 3 ⚡)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240280"/>
            <a:ext cx="1783080" cy="393192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240280"/>
            <a:ext cx="1655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Risk Level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39112" y="2240280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2240280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Very Low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11880" y="2240280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2240280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Low–Medium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84648" y="2240280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48656" y="2240280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High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757416" y="2240280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21424" y="2240280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Critical (Active Incident)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6032" y="2633472"/>
            <a:ext cx="1783080" cy="393192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633472"/>
            <a:ext cx="1655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Change Scope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2633472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03120" y="2633472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Single component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11880" y="2633472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75888" y="2633472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Multi-component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184648" y="2633472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48656" y="2633472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Multi-system/domain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757416" y="2633472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21424" y="2633472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Any — incident-driven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6032" y="3026664"/>
            <a:ext cx="1783080" cy="393192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026664"/>
            <a:ext cx="1655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Rollback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039112" y="3026664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03120" y="3026664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Automated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11880" y="3026664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75888" y="3026664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Scripted, tested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184648" y="3026664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48656" y="3026664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Tested + rehearsed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757416" y="3026664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21424" y="3026664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Mandatory, &lt;30 min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6032" y="3419856"/>
            <a:ext cx="1783080" cy="393192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3419856"/>
            <a:ext cx="1655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Testing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039112" y="3419856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03120" y="3419856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Unit test ≥80%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11880" y="3419856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75888" y="3419856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SIT + UAT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184648" y="3419856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48656" y="3419856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SIT+UAT+Pen-test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757416" y="3419856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1424" y="3419856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Minimal rapid test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6032" y="3813048"/>
            <a:ext cx="1783080" cy="393192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3813048"/>
            <a:ext cx="1655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Lead Time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039112" y="3813048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03120" y="3813048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Minutes–Hours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611880" y="3813048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75888" y="3813048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2–5 business days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184648" y="3813048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48656" y="3813048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≥5 business days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757416" y="3813048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21424" y="3813048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&lt;4 hours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56032" y="4206240"/>
            <a:ext cx="1783080" cy="393192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206240"/>
            <a:ext cx="1655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Approval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039112" y="4206240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103120" y="4206240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Pipeline gates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611880" y="4206240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75888" y="4206240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+Senior approver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184648" y="4206240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48656" y="4206240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CAB Forum meeting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757416" y="4206240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21424" y="4206240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CAB Manager+Owner+Sponsor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56032" y="4599432"/>
            <a:ext cx="1783080" cy="393192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" y="4599432"/>
            <a:ext cx="1655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Examples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2039112" y="4599432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103120" y="4599432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Config tune,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hotfix patch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611880" y="4599432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75888" y="4599432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New API,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DB schema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5184648" y="4599432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248656" y="4599432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Core system migration,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cloud cutover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757416" y="4599432"/>
            <a:ext cx="1572768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821424" y="4599432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Critical prod outage,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security breach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256032" y="4992624"/>
            <a:ext cx="1783080" cy="393192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20040" y="4992624"/>
            <a:ext cx="1655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Freeze Period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2039112" y="4992624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03120" y="4992624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Blocked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611880" y="4992624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675888" y="4992624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Blocked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5184648" y="4992624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248656" y="4992624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Blocked (waiver)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6757416" y="4992624"/>
            <a:ext cx="15727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821424" y="4992624"/>
            <a:ext cx="1444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Allowed with approval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CI/CD Pipeline Gates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8 mandatory quality &amp; security gates — all must pass before deployment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7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502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1737360"/>
            <a:ext cx="384048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SAST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9933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Static Application Security Testing — SonarQube quality gate, zero critical findings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502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2487168"/>
            <a:ext cx="384048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532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SCA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743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Software Composition Analysis — no known CVE in dependencies (OWASP, Snyk)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310128"/>
            <a:ext cx="5029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3236976"/>
            <a:ext cx="384048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2826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Unit Test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Coverage ≥ 80% enforced. Test results published to pipeline artifacts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059936"/>
            <a:ext cx="502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3986784"/>
            <a:ext cx="384048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0325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Container Scan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42428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Trivy scan on Docker images — zero HIGH/CRITICAL vulnerabilities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1810512"/>
            <a:ext cx="502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57800" y="1737360"/>
            <a:ext cx="384048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Peer Review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19933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Minimum 1 reviewer (author ≠ reviewer). Approved in GitLab MR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9160" y="2560320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57800" y="2487168"/>
            <a:ext cx="384048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2532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Signed Artifact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49240" y="2743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All artifacts signed and stored in Nexus/registry. Immutable build record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3310128"/>
            <a:ext cx="502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257800" y="3236976"/>
            <a:ext cx="384048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9240" y="32826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Freeze Check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49240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Pipeline enforces deployment freeze on W4 EOM and W1 Jan. Auto-block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9160" y="4059936"/>
            <a:ext cx="50292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G8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257800" y="3986784"/>
            <a:ext cx="384048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40325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SIEM Logging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49240" y="42428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All deployments emit structured events to SIEM. Audit trail mandatory (ISO A.8.15)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44568" y="1719072"/>
            <a:ext cx="54864" cy="3072384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7365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⚠️  Any gate failure blocks deployment automatically. Emergency bypass requires CAB Manager + CAB Owner written approval with documented justification (retained ≥ 3 years).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Segregation of Duties (SoD)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ISO/IEC 27001:2022 Control A.5.3 — No single person controls end-to-end change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8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8595360" cy="384048"/>
          </a:xfrm>
          <a:prstGeom prst="rect">
            <a:avLst/>
          </a:prstGeom>
          <a:solidFill>
            <a:srgbClr val="FFF3C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916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Core Principle:  Developer ≠ Deployer  |  Author ≠ Reviewer  |  Requester ≠ Approver  |  Deployer ≠ CAB Approver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✅  Permitted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0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❌  Prohibited (SoD conflict)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◑  Conditional (with documented justification)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64208" y="2359152"/>
            <a:ext cx="102412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0784" y="235915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Write Code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688336" y="2359152"/>
            <a:ext cx="102412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235915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Peer Review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12464" y="2359152"/>
            <a:ext cx="102412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35915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Deploy to Prod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36592" y="2359152"/>
            <a:ext cx="102412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35915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Approve RFC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760720" y="2359152"/>
            <a:ext cx="102412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97296" y="235915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CAB Go/No-Go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784848" y="2359152"/>
            <a:ext cx="102412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235915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Emergency Approve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808976" y="2359152"/>
            <a:ext cx="102412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5552" y="235915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PIR Sign-off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74320" y="2743200"/>
            <a:ext cx="1389888" cy="33832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274320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Developer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64208" y="2743200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64208" y="274320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688336" y="2743200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88336" y="274320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712464" y="2743200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12464" y="274320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36592" y="2743200"/>
            <a:ext cx="1024128" cy="338328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274320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◑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760720" y="2743200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274320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784848" y="2743200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84848" y="274320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808976" y="2743200"/>
            <a:ext cx="1024128" cy="338328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08976" y="274320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◑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74320" y="3081528"/>
            <a:ext cx="1389888" cy="33832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3081528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QA/Tester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664208" y="3081528"/>
            <a:ext cx="1024128" cy="338328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64208" y="3081528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◑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688336" y="3081528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88336" y="3081528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712464" y="3081528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12464" y="3081528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736592" y="3081528"/>
            <a:ext cx="1024128" cy="338328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3081528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◑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760720" y="3081528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3081528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784848" y="3081528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84848" y="3081528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808976" y="3081528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08976" y="3081528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74320" y="3419856"/>
            <a:ext cx="1389888" cy="33832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9184" y="341985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Change Owner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664208" y="3419856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64208" y="3419856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2688336" y="3419856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88336" y="3419856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3712464" y="3419856"/>
            <a:ext cx="1024128" cy="338328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12464" y="3419856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◑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736592" y="3419856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36592" y="3419856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760720" y="3419856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60720" y="3419856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784848" y="3419856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84848" y="3419856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808976" y="3419856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08976" y="3419856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274320" y="3758184"/>
            <a:ext cx="1389888" cy="33832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9184" y="3758184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Senior Reviewer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664208" y="3758184"/>
            <a:ext cx="1024128" cy="338328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664208" y="3758184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◑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2688336" y="3758184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688336" y="3758184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3712464" y="3758184"/>
            <a:ext cx="1024128" cy="338328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712464" y="3758184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◑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4736592" y="3758184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36592" y="3758184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5760720" y="3758184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760720" y="3758184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6784848" y="3758184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784848" y="3758184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7808976" y="3758184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808976" y="3758184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274320" y="4096512"/>
            <a:ext cx="1389888" cy="33832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9184" y="4096512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CAB Manager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664208" y="4096512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664208" y="4096512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2688336" y="4096512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688336" y="4096512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3712464" y="4096512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712464" y="4096512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4736592" y="4096512"/>
            <a:ext cx="1024128" cy="338328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736592" y="4096512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◑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5760720" y="4096512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760720" y="4096512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6784848" y="4096512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784848" y="4096512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7808976" y="4096512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808976" y="4096512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274320" y="4434840"/>
            <a:ext cx="1389888" cy="33832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29184" y="443484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CAB Owner/Sponsor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1664208" y="4434840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664208" y="443484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2688336" y="4434840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688336" y="443484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3712464" y="4434840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712464" y="443484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4736592" y="4434840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736592" y="443484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5760720" y="4434840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760720" y="443484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6784848" y="4434840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784848" y="443484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7808976" y="4434840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808976" y="4434840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274320" y="4773168"/>
            <a:ext cx="1389888" cy="33832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29184" y="4773168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Ops/Deployer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1664208" y="4773168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664208" y="4773168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2688336" y="4773168"/>
            <a:ext cx="1024128" cy="338328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688336" y="4773168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◑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3712464" y="4773168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712464" y="4773168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34" name="Shape 132"/>
          <p:cNvSpPr/>
          <p:nvPr/>
        </p:nvSpPr>
        <p:spPr>
          <a:xfrm>
            <a:off x="4736592" y="4773168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736592" y="4773168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5760720" y="4773168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760720" y="4773168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138" name="Shape 136"/>
          <p:cNvSpPr/>
          <p:nvPr/>
        </p:nvSpPr>
        <p:spPr>
          <a:xfrm>
            <a:off x="6784848" y="4773168"/>
            <a:ext cx="1024128" cy="338328"/>
          </a:xfrm>
          <a:prstGeom prst="rect">
            <a:avLst/>
          </a:prstGeom>
          <a:solidFill>
            <a:srgbClr val="FEE2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784848" y="4773168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140" name="Shape 138"/>
          <p:cNvSpPr/>
          <p:nvPr/>
        </p:nvSpPr>
        <p:spPr>
          <a:xfrm>
            <a:off x="7808976" y="4773168"/>
            <a:ext cx="1024128" cy="3383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808976" y="4773168"/>
            <a:ext cx="1024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Change Advisory Board (CAB) — Governance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CAB Forum for Major &amp; Emergency changes only. Standard/Normal: Automated or Async approval.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9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859536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91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ℹ️  With CI/CD adoption, CAB Forum is reserved for MAJOR and EMERGENCY changes only. Standard and Normal changes use automated pipeline or async approval.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066544"/>
            <a:ext cx="12801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06654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36192" y="2066544"/>
            <a:ext cx="347472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72768" y="2066544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Responsibilities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10912" y="2066544"/>
            <a:ext cx="19202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06654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Assignee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31152" y="2066544"/>
            <a:ext cx="8229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2066544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Regular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54112" y="2066544"/>
            <a:ext cx="9144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0688" y="2066544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Emergency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432304"/>
            <a:ext cx="1280160" cy="56692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" y="2432304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CAB Sponsor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36192" y="2432304"/>
            <a:ext cx="34747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91056" y="243230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Final approval for high-risk/emergency changes. Align with business strategy &amp; regulatory standards. Resolve cross-department conflicts.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010912" y="2432304"/>
            <a:ext cx="192024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65776" y="243230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Head of IT / CTO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931152" y="2432304"/>
            <a:ext cx="822960" cy="566928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86016" y="2432304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Optional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754112" y="2432304"/>
            <a:ext cx="914400" cy="5669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08976" y="2432304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Mandatory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6032" y="2999232"/>
            <a:ext cx="1280160" cy="56692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299923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CAB Owner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36192" y="2999232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91056" y="2999232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Define &amp; maintain CAB governance framework. Approve/escalate high-risk changes. Monitor change performance metrics. Report to BOM when needed.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010912" y="2999232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65776" y="299923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Head of IT Ops &amp; Infra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931152" y="2999232"/>
            <a:ext cx="822960" cy="5669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86016" y="2999232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Mandatory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754112" y="2999232"/>
            <a:ext cx="914400" cy="5669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08976" y="2999232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Mandatory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56032" y="3566160"/>
            <a:ext cx="1280160" cy="56692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" y="356616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CAB Manager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536192" y="3566160"/>
            <a:ext cx="34747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91056" y="3566160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Facilitate CAB meetings. Review RFC completeness. Prepare agenda &amp; impact analysis. Track change status. Ensure SoD compliance across all jalur.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010912" y="3566160"/>
            <a:ext cx="192024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65776" y="356616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Head of IT DevSecOps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931152" y="3566160"/>
            <a:ext cx="822960" cy="5669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86016" y="356616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Mandatory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754112" y="3566160"/>
            <a:ext cx="914400" cy="566928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08976" y="356616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Mandatory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56032" y="4133088"/>
            <a:ext cx="1280160" cy="56692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" y="413308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CAB Member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536192" y="4133088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91056" y="4133088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Provide SIT/UAT, Pen-Test &amp; Perf-Test approvals. Assess impact, risk, security, compliance, and operational readiness. Support PIR.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010912" y="4133088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65776" y="413308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Head of IT BA, Head of IT DEV/CORE, Head of IT DATA, PMO/PO, SME (if needed)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931152" y="4133088"/>
            <a:ext cx="822960" cy="566928"/>
          </a:xfrm>
          <a:prstGeom prst="rect">
            <a:avLst/>
          </a:prstGeom>
          <a:solidFill>
            <a:srgbClr val="F9FA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86016" y="4133088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Not Required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754112" y="4133088"/>
            <a:ext cx="914400" cy="566928"/>
          </a:xfrm>
          <a:prstGeom prst="rect">
            <a:avLst/>
          </a:prstGeom>
          <a:solidFill>
            <a:srgbClr val="F9FA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08976" y="4133088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Not Required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Go / No-Go Checklist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Pre-deployment readiness gates — all items must be GREEN before deployment proceeds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10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737360"/>
            <a:ext cx="123444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737360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Category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90472" y="1737360"/>
            <a:ext cx="42062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7048" y="1737360"/>
            <a:ext cx="4133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Checklist Item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96712" y="1737360"/>
            <a:ext cx="8229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17373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Automated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🤖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19672" y="1737360"/>
            <a:ext cx="82296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17373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Hybrid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🔀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42632" y="1737360"/>
            <a:ext cx="8046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9208" y="1737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👥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2057400"/>
            <a:ext cx="1234440" cy="265176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057400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Planning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490472" y="2057400"/>
            <a:ext cx="4206240" cy="265176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36192" y="2057400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RFC submitted and complete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696712" y="2057400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205740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19672" y="2057400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205740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42632" y="2057400"/>
            <a:ext cx="804672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057400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6032" y="2322576"/>
            <a:ext cx="1234440" cy="265176"/>
          </a:xfrm>
          <a:prstGeom prst="rect">
            <a:avLst/>
          </a:prstGeom>
          <a:solidFill>
            <a:srgbClr val="F5F8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" y="2322576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490472" y="2322576"/>
            <a:ext cx="42062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36192" y="2322576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Change classification confirmed by CAB Manager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696712" y="2322576"/>
            <a:ext cx="822960" cy="265176"/>
          </a:xfrm>
          <a:prstGeom prst="rect">
            <a:avLst/>
          </a:prstGeom>
          <a:solidFill>
            <a:srgbClr val="F9FA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2432" y="2322576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—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19672" y="2322576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2322576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42632" y="2322576"/>
            <a:ext cx="804672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88352" y="2322576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56032" y="2587752"/>
            <a:ext cx="1234440" cy="265176"/>
          </a:xfrm>
          <a:prstGeom prst="rect">
            <a:avLst/>
          </a:prstGeom>
          <a:solidFill>
            <a:srgbClr val="F5F8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" y="2587752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490472" y="2587752"/>
            <a:ext cx="4206240" cy="265176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36192" y="2587752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Deployment window confirmed (no freeze period)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696712" y="2587752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42432" y="2587752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519672" y="2587752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65392" y="2587752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342632" y="2587752"/>
            <a:ext cx="804672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88352" y="2587752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56032" y="2852928"/>
            <a:ext cx="1234440" cy="265176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" y="2852928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Verification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490472" y="2852928"/>
            <a:ext cx="42062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536192" y="2852928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All pipeline gates passed (G1–G8)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696712" y="2852928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42432" y="285292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519672" y="2852928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65392" y="285292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342632" y="2852928"/>
            <a:ext cx="804672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88352" y="2852928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56032" y="3118104"/>
            <a:ext cx="1234440" cy="265176"/>
          </a:xfrm>
          <a:prstGeom prst="rect">
            <a:avLst/>
          </a:prstGeom>
          <a:solidFill>
            <a:srgbClr val="F5F8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" y="3118104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490472" y="3118104"/>
            <a:ext cx="4206240" cy="265176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36192" y="3118104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SIT / UAT approval obtained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696712" y="3118104"/>
            <a:ext cx="822960" cy="265176"/>
          </a:xfrm>
          <a:prstGeom prst="rect">
            <a:avLst/>
          </a:prstGeom>
          <a:solidFill>
            <a:srgbClr val="F9FA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42432" y="3118104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—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519672" y="3118104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65392" y="3118104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342632" y="3118104"/>
            <a:ext cx="804672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88352" y="3118104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256032" y="3383280"/>
            <a:ext cx="1234440" cy="265176"/>
          </a:xfrm>
          <a:prstGeom prst="rect">
            <a:avLst/>
          </a:prstGeom>
          <a:solidFill>
            <a:srgbClr val="F5F8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1752" y="3383280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490472" y="3383280"/>
            <a:ext cx="42062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36192" y="3383280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Security pen-test clearance (Major only)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696712" y="3383280"/>
            <a:ext cx="822960" cy="265176"/>
          </a:xfrm>
          <a:prstGeom prst="rect">
            <a:avLst/>
          </a:prstGeom>
          <a:solidFill>
            <a:srgbClr val="F9FA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42432" y="338328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—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519672" y="3383280"/>
            <a:ext cx="822960" cy="265176"/>
          </a:xfrm>
          <a:prstGeom prst="rect">
            <a:avLst/>
          </a:prstGeom>
          <a:solidFill>
            <a:srgbClr val="F9FA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65392" y="338328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—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7342632" y="3383280"/>
            <a:ext cx="804672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88352" y="3383280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256032" y="3648456"/>
            <a:ext cx="1234440" cy="265176"/>
          </a:xfrm>
          <a:prstGeom prst="rect">
            <a:avLst/>
          </a:prstGeom>
          <a:solidFill>
            <a:srgbClr val="F5F8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1752" y="3648456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490472" y="3648456"/>
            <a:ext cx="4206240" cy="265176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536192" y="3648456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Peer review approved (author ≠ reviewer)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696712" y="3648456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42432" y="3648456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6519672" y="3648456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65392" y="3648456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342632" y="3648456"/>
            <a:ext cx="804672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88352" y="3648456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256032" y="3913632"/>
            <a:ext cx="1234440" cy="265176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01752" y="3913632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Deployment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1490472" y="3913632"/>
            <a:ext cx="42062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536192" y="3913632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Rollback procedure documented &amp; tested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5696712" y="3913632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742432" y="3913632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6519672" y="3913632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565392" y="3913632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7342632" y="3913632"/>
            <a:ext cx="804672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388352" y="3913632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256032" y="4178808"/>
            <a:ext cx="1234440" cy="265176"/>
          </a:xfrm>
          <a:prstGeom prst="rect">
            <a:avLst/>
          </a:prstGeom>
          <a:solidFill>
            <a:srgbClr val="F5F8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01752" y="4178808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1490472" y="4178808"/>
            <a:ext cx="4206240" cy="265176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536192" y="4178808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Deployment runbook / checklist ready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5696712" y="4178808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742432" y="417880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6519672" y="4178808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565392" y="417880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7342632" y="4178808"/>
            <a:ext cx="804672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388352" y="4178808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256032" y="4443984"/>
            <a:ext cx="1234440" cy="265176"/>
          </a:xfrm>
          <a:prstGeom prst="rect">
            <a:avLst/>
          </a:prstGeom>
          <a:solidFill>
            <a:srgbClr val="F5F8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01752" y="4443984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490472" y="4443984"/>
            <a:ext cx="42062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536192" y="4443984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Stakeholder notification sent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5696712" y="4443984"/>
            <a:ext cx="822960" cy="265176"/>
          </a:xfrm>
          <a:prstGeom prst="rect">
            <a:avLst/>
          </a:prstGeom>
          <a:solidFill>
            <a:srgbClr val="F9FA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742432" y="4443984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—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6519672" y="4443984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65392" y="4443984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7342632" y="4443984"/>
            <a:ext cx="804672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388352" y="4443984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256032" y="4709160"/>
            <a:ext cx="1234440" cy="265176"/>
          </a:xfrm>
          <a:prstGeom prst="rect">
            <a:avLst/>
          </a:prstGeom>
          <a:solidFill>
            <a:srgbClr val="F5F8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01752" y="4709160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1490472" y="4709160"/>
            <a:ext cx="4206240" cy="265176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536192" y="4709160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Database backup verified (if DB change)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5696712" y="4709160"/>
            <a:ext cx="822960" cy="265176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742432" y="470916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◑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6519672" y="4709160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565392" y="470916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7342632" y="4709160"/>
            <a:ext cx="804672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388352" y="4709160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256032" y="4974336"/>
            <a:ext cx="1234440" cy="265176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01752" y="4974336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ELS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1490472" y="4974336"/>
            <a:ext cx="42062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536192" y="4974336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ELS monitoring configured (alerting, dashboards)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5696712" y="4974336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742432" y="4974336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6519672" y="4974336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565392" y="4974336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7342632" y="4974336"/>
            <a:ext cx="804672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388352" y="4974336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256032" y="5239512"/>
            <a:ext cx="1234440" cy="265176"/>
          </a:xfrm>
          <a:prstGeom prst="rect">
            <a:avLst/>
          </a:prstGeom>
          <a:solidFill>
            <a:srgbClr val="F5F8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01752" y="5239512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1490472" y="5239512"/>
            <a:ext cx="4206240" cy="265176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536192" y="5239512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On-call rotation confirmed for hypercare period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5696712" y="5239512"/>
            <a:ext cx="822960" cy="265176"/>
          </a:xfrm>
          <a:prstGeom prst="rect">
            <a:avLst/>
          </a:prstGeom>
          <a:solidFill>
            <a:srgbClr val="F9FA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742432" y="5239512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—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6519672" y="5239512"/>
            <a:ext cx="822960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565392" y="5239512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7342632" y="5239512"/>
            <a:ext cx="804672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388352" y="5239512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151" name="Shape 149"/>
          <p:cNvSpPr/>
          <p:nvPr/>
        </p:nvSpPr>
        <p:spPr>
          <a:xfrm>
            <a:off x="256032" y="5504688"/>
            <a:ext cx="1234440" cy="265176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01752" y="5504688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Closure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1490472" y="5504688"/>
            <a:ext cx="42062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536192" y="5504688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PIR scheduled (within 5 business days)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5696712" y="5504688"/>
            <a:ext cx="822960" cy="265176"/>
          </a:xfrm>
          <a:prstGeom prst="rect">
            <a:avLst/>
          </a:prstGeom>
          <a:solidFill>
            <a:srgbClr val="F9FA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742432" y="550468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—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6519672" y="5504688"/>
            <a:ext cx="822960" cy="265176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565392" y="550468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◑</a:t>
            </a:r>
            <a:endParaRPr lang="en-US" sz="1200" dirty="0"/>
          </a:p>
        </p:txBody>
      </p:sp>
      <p:sp>
        <p:nvSpPr>
          <p:cNvPr id="159" name="Shape 157"/>
          <p:cNvSpPr/>
          <p:nvPr/>
        </p:nvSpPr>
        <p:spPr>
          <a:xfrm>
            <a:off x="7342632" y="5504688"/>
            <a:ext cx="804672" cy="265176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388352" y="5504688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✅</a:t>
            </a:r>
            <a:endParaRPr lang="en-US" sz="1200" dirty="0"/>
          </a:p>
        </p:txBody>
      </p:sp>
      <p:sp>
        <p:nvSpPr>
          <p:cNvPr id="161" name="Text 159"/>
          <p:cNvSpPr/>
          <p:nvPr/>
        </p:nvSpPr>
        <p:spPr>
          <a:xfrm>
            <a:off x="274320" y="4754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✅ = Required  |  ◑ = Conditional  |  — = Not applicable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Emergency Change Fast Track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For critical production incidents — speed with control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11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859536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91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⚡  Emergency Change = Active production incident or imminent security threat. Must follow this procedure — no shortcuts.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42062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03120"/>
            <a:ext cx="502920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031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T+0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" y="21579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Incident Declared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23774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Incident Manager declares P1/P2. Emergency change request raised via fast-track form (verbal + ticket within 30 min).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9160" y="2103120"/>
            <a:ext cx="42062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103120"/>
            <a:ext cx="502920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1031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T+15 min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76088" y="21579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CAB Notification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76088" y="23774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CAB Manager notified immediately. Contacts CAB Owner. Determines if CAB Sponsor needed (P1 = Mandatory).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42062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017520"/>
            <a:ext cx="50292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0175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T+30 min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8" y="30723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Rapid Assessment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" y="32918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Change Owner prepares: root cause hypothesis, proposed fix, rollback plan (must be &lt;30 min recovery), blast radius.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9160" y="3017520"/>
            <a:ext cx="42062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017520"/>
            <a:ext cx="50292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0175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T+1 hr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76088" y="30723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Emergency Approval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76088" y="32918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CAB Manager + CAB Owner grant verbal approval (confirmed in writing within 2 hours). P1: Sponsor mandatory.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3931920"/>
            <a:ext cx="42062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931920"/>
            <a:ext cx="502920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9319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T+2 hr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1248" y="39867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Controlled Deployment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" y="42062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Deploy with real-time CAB Manager oversight. Ops/Deployer executes — developer does NOT deploy (SoD maintained).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09160" y="3931920"/>
            <a:ext cx="42062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3931920"/>
            <a:ext cx="50292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9319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E6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T+24 hr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76088" y="39867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Immediate PIR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76088" y="42062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PIR mandatory within 24 hours. Root cause, timeline, controls gap analysis, corrective actions. Escalate to CAB Owner.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4320" y="47548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⚠️  Pipeline gate bypass requires written justification. All emergency changes must be retrospectively reviewed and documented within 24 hours (ISO A.8.32).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KPI &amp; Metrics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Release &amp; Change Management performance indicators — measured monthly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12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1148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" y="1719072"/>
            <a:ext cx="23317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171907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KPI Name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99232" y="1719072"/>
            <a:ext cx="7772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171907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Target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76472" y="1719072"/>
            <a:ext cx="5943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13048" y="1719072"/>
            <a:ext cx="521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ISO Ref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70832" y="1719072"/>
            <a:ext cx="32004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1719072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Description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039112"/>
            <a:ext cx="41148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0391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" y="2039112"/>
            <a:ext cx="2331720" cy="274320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039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Change Success Rate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99232" y="2039112"/>
            <a:ext cx="777240" cy="274320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35808" y="203911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≥ 95%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76472" y="2039112"/>
            <a:ext cx="59436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03904" y="2039112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A.8.32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70832" y="2039112"/>
            <a:ext cx="32004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2039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Changes deployed without incident or emergency rollback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6032" y="2313432"/>
            <a:ext cx="411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23134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2313432"/>
            <a:ext cx="2331720" cy="274320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2313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Emergency Change Rate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99232" y="2313432"/>
            <a:ext cx="777240" cy="274320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35808" y="231343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≤ 5%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76472" y="2313432"/>
            <a:ext cx="594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03904" y="2313432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A.8.32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70832" y="2313432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34840" y="2313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Emergency changes as % of total — indicates process maturity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56032" y="2587752"/>
            <a:ext cx="41148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2587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7512" y="2587752"/>
            <a:ext cx="2331720" cy="274320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25877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Rollback Rate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999232" y="2587752"/>
            <a:ext cx="777240" cy="274320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35808" y="258775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≤ 3%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76472" y="2587752"/>
            <a:ext cx="59436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03904" y="2587752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A.8.29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370832" y="2587752"/>
            <a:ext cx="32004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34840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Changes requiring rollback after deployment to production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6032" y="2862072"/>
            <a:ext cx="411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" y="2862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📋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67512" y="2862072"/>
            <a:ext cx="2331720" cy="274320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2862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CAB RFC Completeness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999232" y="2862072"/>
            <a:ext cx="777240" cy="274320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35808" y="286207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100%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776472" y="2862072"/>
            <a:ext cx="594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03904" y="2862072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A.8.32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370832" y="2862072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34840" y="2862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RFC submissions with all required documentation complete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56032" y="3136392"/>
            <a:ext cx="41148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3136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🔒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67512" y="3136392"/>
            <a:ext cx="2331720" cy="274320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" y="31363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SoD Compliance Rate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999232" y="3136392"/>
            <a:ext cx="777240" cy="274320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35808" y="313639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100%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776472" y="3136392"/>
            <a:ext cx="59436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03904" y="3136392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A.5.3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370832" y="3136392"/>
            <a:ext cx="32004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34840" y="3136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Deployments with no SoD violation — no dev=deployer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56032" y="3410712"/>
            <a:ext cx="411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6032" y="34107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🛡️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67512" y="3410712"/>
            <a:ext cx="2331720" cy="274320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34107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Pipeline Gate Pass Rate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999232" y="3410712"/>
            <a:ext cx="777240" cy="274320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35808" y="341071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≥ 90%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776472" y="3410712"/>
            <a:ext cx="594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03904" y="3410712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A.8.29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370832" y="3410712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34840" y="3410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Builds passing all 8 CI/CD gates on first attempt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56032" y="3685032"/>
            <a:ext cx="41148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6032" y="3685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📝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67512" y="3685032"/>
            <a:ext cx="2331720" cy="274320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1520" y="3685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Audit Trail Coverage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999232" y="3685032"/>
            <a:ext cx="777240" cy="274320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035808" y="368503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100%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776472" y="3685032"/>
            <a:ext cx="59436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03904" y="3685032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A.8.15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370832" y="3685032"/>
            <a:ext cx="32004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34840" y="3685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Changes with complete SIEM audit log (who/what/when/why)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56032" y="3959352"/>
            <a:ext cx="411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56032" y="39593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🔍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667512" y="3959352"/>
            <a:ext cx="2331720" cy="274320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1520" y="39593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PIR Completion Rate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999232" y="3959352"/>
            <a:ext cx="777240" cy="274320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35808" y="395935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100%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776472" y="3959352"/>
            <a:ext cx="594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803904" y="3959352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A.8.32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370832" y="3959352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34840" y="3959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Post-Implementation Reviews completed within SLA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256032" y="4233672"/>
            <a:ext cx="41148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56032" y="4233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⏱️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667512" y="4233672"/>
            <a:ext cx="2331720" cy="274320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31520" y="4233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CAB Review Cycle Time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2999232" y="4233672"/>
            <a:ext cx="777240" cy="274320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035808" y="423367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≤ 5 days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3776472" y="4233672"/>
            <a:ext cx="59436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803904" y="4233672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POJK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4370832" y="4233672"/>
            <a:ext cx="32004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434840" y="4233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Average time from RFC submission to CAB approval decision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256032" y="4507992"/>
            <a:ext cx="411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56032" y="45079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📊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667512" y="4507992"/>
            <a:ext cx="2331720" cy="274320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31520" y="4507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Mean Time to Recover (MTTR)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2999232" y="4507992"/>
            <a:ext cx="777240" cy="274320"/>
          </a:xfrm>
          <a:prstGeom prst="rect">
            <a:avLst/>
          </a:prstGeom>
          <a:solidFill>
            <a:srgbClr val="E8FF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035808" y="450799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≤ 4 hrs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3776472" y="4507992"/>
            <a:ext cx="594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803904" y="4507992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A.8.32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4370832" y="4507992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434840" y="4507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Average recovery time for failed or rolled-back changes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256032" y="47548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KPIs reviewed monthly by CAB Manager and reported quarterly to Head of IT. Trends below target trigger corrective action plan within 30 days.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CAB Schedule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Submission, Forum &amp; Deployment calendar — applies to Hybrid &amp; CAB jalur only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13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1316736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1316736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71907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CAB Submission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01752" y="18928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19202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Every Monday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13055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3:00 PM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00784" y="1719072"/>
            <a:ext cx="1316736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700784" y="1719072"/>
            <a:ext cx="1316736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171907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CAB Forum (Go/No-Go)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746504" y="18928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🗣️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84832" y="19202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Every Tuesday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84832" y="213055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2:00 PM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145536" y="1719072"/>
            <a:ext cx="1316736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45536" y="1719072"/>
            <a:ext cx="1316736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171907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Regular Deployment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191256" y="18928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29584" y="19202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Every Thursday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9584" y="213055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EOD (17:00)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90288" y="1719072"/>
            <a:ext cx="1316736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90288" y="1719072"/>
            <a:ext cx="1316736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171907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Automated (CI/CD)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636008" y="18928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74336" y="19202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Any time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74336" y="213055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Pipeline-triggered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35040" y="1719072"/>
            <a:ext cx="1316736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1719072"/>
            <a:ext cx="1316736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71616" y="171907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Freeze Period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080760" y="18928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⛔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9088" y="19202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W4 EOM + W1 Jan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19088" y="213055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No deployment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479792" y="1719072"/>
            <a:ext cx="1316736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79792" y="1719072"/>
            <a:ext cx="1316736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16368" y="171907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Emergency Deploy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525512" y="18928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863840" y="19202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Any time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63840" y="213055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Approval required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56032" y="2633472"/>
            <a:ext cx="1280160" cy="292608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" y="263347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Quarter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536192" y="2633472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72768" y="263347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Month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816352" y="2633472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52928" y="263347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Month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096512" y="2633472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33088" y="263347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Month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76672" y="2633472"/>
            <a:ext cx="128016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13248" y="263347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CAB Forum Dates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656832" y="2633472"/>
            <a:ext cx="12801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93408" y="263347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Deployment Dates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936992" y="2633472"/>
            <a:ext cx="117043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73568" y="2633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Notes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6032" y="2926080"/>
            <a:ext cx="1280160" cy="47548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" y="29260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Q1 (Jan–Mar)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536192" y="2926080"/>
            <a:ext cx="128016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81912" y="29260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January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816352" y="2926080"/>
            <a:ext cx="128016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62072" y="29260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February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096512" y="2926080"/>
            <a:ext cx="128016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42232" y="29260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March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376672" y="2926080"/>
            <a:ext cx="128016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22392" y="29260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7293"/>
                </a:solidFill>
              </a:rPr>
              <a:t>6, 13, 20, 27 | 3, 10, 18, 24 | 3, 10, 17, 25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656832" y="2926080"/>
            <a:ext cx="1280160" cy="47548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02552" y="29260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8, 15, 22, 29 | 5, 12, 19, 26 | 5, 12, 18, 26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936992" y="2926080"/>
            <a:ext cx="1170432" cy="475488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73568" y="29260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</a:rPr>
              <a:t>W4 Jan = Freeze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</a:rPr>
              <a:t>W1 Jan = New Year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256032" y="3401568"/>
            <a:ext cx="1280160" cy="47548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01752" y="34015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Q2 (Apr–Jun)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536192" y="3401568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81912" y="34015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April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816352" y="3401568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862072" y="34015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May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096512" y="3401568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42232" y="34015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June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5376672" y="3401568"/>
            <a:ext cx="128016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22392" y="34015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7293"/>
                </a:solidFill>
              </a:rPr>
              <a:t>7, 14, 21, 28 | 5, 12, 19, 26 | 2, 9, 17, 23, 30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656832" y="3401568"/>
            <a:ext cx="1280160" cy="47548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02552" y="34015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9, 16, 23, 30 | 7, 13, 21, 28 | 4, 11, 18, 25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936992" y="3401568"/>
            <a:ext cx="1170432" cy="475488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973568" y="340156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</a:rPr>
              <a:t>W4 EOM = Freeze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256032" y="3877056"/>
            <a:ext cx="1280160" cy="47548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01752" y="38770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Q3 (Jul–Sep)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536192" y="3877056"/>
            <a:ext cx="128016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81912" y="38770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July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816352" y="3877056"/>
            <a:ext cx="128016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862072" y="38770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August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096512" y="3877056"/>
            <a:ext cx="128016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142232" y="38770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September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5376672" y="3877056"/>
            <a:ext cx="128016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22392" y="38770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7293"/>
                </a:solidFill>
              </a:rPr>
              <a:t>7, 14, 21, 28 | 4, 11, 18, 26 | 1, 8, 15, 22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6656832" y="3877056"/>
            <a:ext cx="1280160" cy="47548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702552" y="38770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9, 16, 23, 30 | 6, 13, 20, 27 | 3, 10, 17, 24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7936992" y="3877056"/>
            <a:ext cx="1170432" cy="475488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973568" y="387705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</a:rPr>
              <a:t>W4 EOM = Freeze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256032" y="4352544"/>
            <a:ext cx="1280160" cy="475488"/>
          </a:xfrm>
          <a:prstGeom prst="rect">
            <a:avLst/>
          </a:prstGeom>
          <a:solidFill>
            <a:srgbClr val="E8EF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01752" y="43525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Q4 (Oct–Dec)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536192" y="4352544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81912" y="43525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October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2816352" y="4352544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862072" y="43525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November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4096512" y="4352544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142232" y="43525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December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5376672" y="4352544"/>
            <a:ext cx="128016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422392" y="43525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7293"/>
                </a:solidFill>
              </a:rPr>
              <a:t>6, 13, 20, 27 | 3, 10, 17, 24 | 1, 8, 15, 22, 29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6656832" y="4352544"/>
            <a:ext cx="1280160" cy="47548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702552" y="43525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8, 15, 22, 29 | 5, 12, 19, 26 | 3, 10, 17, 24, 31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7936992" y="4352544"/>
            <a:ext cx="1170432" cy="475488"/>
          </a:xfrm>
          <a:prstGeom prst="rect">
            <a:avLst/>
          </a:prstGeom>
          <a:solidFill>
            <a:srgbClr val="FFF9E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973568" y="435254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</a:rPr>
              <a:t>W4 Dec = Freeze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</a:rPr>
              <a:t>W1 Jan = New Year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Appendix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Detailed process flows for each stage of the Release Management lifecycle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844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A1. CAB Submission — Document Registration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78561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A2. CAB Forum &amp; Approval Go/No-Go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9867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A3. Deployment Execution &amp; Notification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1879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A4. Hypercare Maintenance Period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A5. PIR &amp; Release Closure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A1 — CAB Submission — Document Registration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Stage: Release Planning  |  Ensure the release scope, readiness, and deployment schedule are clearly defined and properly documented before submission to CAB.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15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229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19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039112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03911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2039112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03911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Change Owner prepares RFC (Request for Change) with: scope, risk assessment, test results, rollback plan, deployment window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423160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4231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" y="2423160"/>
            <a:ext cx="5212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42316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Automated jalur: RFC auto-generated by CI/CD pipeline with build artifacts, scan results, test coverage report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2807208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8072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" y="2807208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807208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Hybrid/CAB jalur: RFC submitted manually via JIRA/ticketing system by Monday 3PM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3191256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1912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" y="3191256"/>
            <a:ext cx="5212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191256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CAB Manager reviews RFC completeness — incomplete submissions returned within 1 business day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5753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" y="3575304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575304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Approved RFC added to CAB Forum agenda for next Tuesday meeting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35040" y="1719072"/>
            <a:ext cx="285292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171907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📤  OUTPUTS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0" y="2039112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2039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RFC document (completed)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35040" y="2368296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08192" y="23682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Checklist — Go/No-Go pre-check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35040" y="2697480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08192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Deployment window confirmation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35040" y="3209544"/>
            <a:ext cx="2852928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320954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🔐  CONTROLS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35040" y="3529584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3529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RFC template enforcement (A.8.32)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035040" y="3858768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3858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Completeness gate by CAB Manager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35040" y="4187952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08192" y="4187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Mandatory rollback plan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A2 — CAB Forum &amp; Approval — Go / No-Go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Stage: Release Verification  |  Confirm that the release is technically and operationally ready before production deployment.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16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229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19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039112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03911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2039112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03911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CAB Manager distributes RFC agenda to CAB Members 24 hours before forum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423160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4231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" y="2423160"/>
            <a:ext cx="5212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42316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CAB Forum convenes every Tuesday 2PM — CAB Owner chairs, CAB Manager facilitates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2807208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8072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" y="2807208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807208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Each RFC presented: change owner walks through scope, risk, test results, rollback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3191256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1912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" y="3191256"/>
            <a:ext cx="5212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191256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CAB Members assess: technical risk, business impact, security posture, compliance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5753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" y="3575304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575304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CAB Owner issues Go (approved) or No-Go (deferred / rejected with documented reason)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032" y="3959352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39593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" y="3959352"/>
            <a:ext cx="5212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95935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Automated jalur: Go/No-Go decision is the pipeline final gate — no meeting required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35040" y="1719072"/>
            <a:ext cx="285292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171907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📤  OUTPUTS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35040" y="2039112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08192" y="2039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CAB minutes with Go/No-Go decision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35040" y="2368296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08192" y="23682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Approved change record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35040" y="2697480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Deployment schedule confirmation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35040" y="3209544"/>
            <a:ext cx="2852928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320954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🔐  CONTROLS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35040" y="3529584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08192" y="3529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Quorum required for meeting (CAB Owner + CAB Manager)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035040" y="3858768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08192" y="3858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No-Go reasons documented and tracked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035040" y="4187952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08192" y="4187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Emergency override: CAB Manager + Owner only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A3 — Deployment Execution &amp; Notification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Stage: Release Deployment  |  Communicate execution plan and control the production deployment or rollback process.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17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229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19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039112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03911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2039112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03911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Ops/Deployer receives approved RFC + signed artifact from Nexus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423160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4231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" y="2423160"/>
            <a:ext cx="5212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42316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SoD verified: developer ≠ deployer before execution begins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2807208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8072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" y="2807208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807208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Pre-deployment notification sent to stakeholders (email + Slack) 1 hour before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3191256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1912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" y="3191256"/>
            <a:ext cx="5212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191256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Deployment executed per runbook — every step logged in SIEM (A.8.15)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5753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" y="3575304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575304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Post-deployment smoke test: critical paths verified within 15 minutes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032" y="3959352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39593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" y="3959352"/>
            <a:ext cx="5212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95935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If failure: rollback executed immediately; CAB Manager notified; incident raised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4343400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434340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" y="4343400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434340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Deployment success/failure notification sent to all stakeholders within 30 minutes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35040" y="1719072"/>
            <a:ext cx="285292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171907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📤  OUTPUTS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35040" y="2039112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2039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Deployment execution log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35040" y="2368296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23682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SIEM audit trail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35040" y="2697480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08192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Success/failure notification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35040" y="3209544"/>
            <a:ext cx="2852928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0" y="320954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🔐  CONTROLS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35040" y="3529584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08192" y="3529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SoD: Developer ≠ Deployer (A.5.3)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035040" y="3858768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8192" y="3858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Signed artifact verification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35040" y="4187952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08192" y="4187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Real-time SIEM logging (A.8.15)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035040" y="4517136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08192" y="4517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Rollback SLA: &lt;30 min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A4 — Hypercare Maintenance Period (Early Life Support)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Stage: Early Life Support (ELS)  |  Provide heightened monitoring and rapid issue resolution after release to Production.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18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229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19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039112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03911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2039112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03911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ELS period: 5 business days post-deployment (extendable for major/complex releases)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423160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4231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" y="2423160"/>
            <a:ext cx="5212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42316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On-call rotation activated — team lead and key developers on standby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2807208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8072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" y="2807208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807208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Monitoring dashboards configured: APM, error rates, latency, business KPIs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3191256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1912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" y="3191256"/>
            <a:ext cx="5212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191256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Daily ELS status report published by 5PM each day during hypercare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5753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" y="3575304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575304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Incidents during ELS escalated immediately — P1 within 15 min, P2 within 1 hour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032" y="3959352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39593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" y="3959352"/>
            <a:ext cx="5212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95935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Rollback decision: if critical issue detected, CAB Manager authorizes rollback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4343400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434340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" y="4343400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434340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ELS closure: CAB Manager confirms operational stability, hands over to IT Ops BAU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35040" y="1719072"/>
            <a:ext cx="285292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171907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📤  OUTPUTS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35040" y="2039112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2039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ELS monitoring report (daily)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35040" y="2368296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23682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Incident tracking report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35040" y="2697480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08192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Operation handover readiness checklist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35040" y="3209544"/>
            <a:ext cx="2852928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0" y="320954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🔐  CONTROLS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35040" y="3529584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08192" y="3529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SLA monitoring automated via SIEM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035040" y="3858768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8192" y="3858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Escalation matrix defined pre-deployment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35040" y="4187952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08192" y="4187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Rollback capability maintained throughout ELS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PT Equity Life Indonesia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Release &amp; Change Management v2.0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A5 — Post-Implementation Review (PIR) &amp; Release Closure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Stage: Release Closure  |  Formally close the release after confirming stability and capturing lessons learned.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CONFIDENTIAL | IT DevSecOps | PT Equity Life Indonesia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892040"/>
            <a:ext cx="731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19 / 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229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19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039112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03911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2039112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03911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PIR meeting scheduled within 5 business days of deployment (automated jalur: async review)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423160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4231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" y="2423160"/>
            <a:ext cx="5212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42316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PIR agenda: deployment timeline, incidents, KPI comparison, lessons learned, open items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2807208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8072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" y="2807208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807208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Change Owner presents: what went well, what failed, root cause of any issues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3191256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1912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" y="3191256"/>
            <a:ext cx="5212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191256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CAB Manager compiles: change metrics (success rate, lead time, rollback rate)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5753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" y="3575304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575304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Lessons learned documented and fed back into SOP/runbook updates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032" y="3959352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39593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" y="3959352"/>
            <a:ext cx="5212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95935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CMS (Configuration Management System) updated with production configuration changes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4343400"/>
            <a:ext cx="34747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434340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" y="4343400"/>
            <a:ext cx="52120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434340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CAB closure report issued — release officially closed in change management system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35040" y="1719072"/>
            <a:ext cx="285292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171907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📤  OUTPUTS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35040" y="2039112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2039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PIR report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35040" y="2368296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23682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Lessons learned document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35040" y="2697480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08192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Release/CAB closure report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35040" y="3026664"/>
            <a:ext cx="2852928" cy="292608"/>
          </a:xfrm>
          <a:prstGeom prst="rect">
            <a:avLst/>
          </a:prstGeom>
          <a:solidFill>
            <a:srgbClr val="EAFA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08192" y="30266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✓  Updated CMS records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35040" y="3538728"/>
            <a:ext cx="2852928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0" y="353872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🔐  CONTROLS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35040" y="3858768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8192" y="3858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PIR mandatory for all Major and Emergency changes (A.8.32)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35040" y="4187952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08192" y="4187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KPI data captured for monthly reporting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035040" y="4517136"/>
            <a:ext cx="285292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08192" y="4517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⚙  CMS update verified by IT Ops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tripe"/>
          <p:cNvSpPr/>
          <p:nvPr/>
        </p:nvSpPr>
        <p:spPr>
          <a:xfrm>
            <a:off x="0" y="0"/>
            <a:ext cx="152400" cy="685800"/>
          </a:xfrm>
          <a:prstGeom prst="rect">
            <a:avLst/>
          </a:prstGeom>
          <a:solidFill>
            <a:srgbClr val="76C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i"/>
          <p:cNvSpPr/>
          <p:nvPr/>
        </p:nvSpPr>
        <p:spPr>
          <a:xfrm>
            <a:off x="228600" y="0"/>
            <a:ext cx="3200400" cy="6858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900" b="0" dirty="0">
                <a:solidFill>
                  <a:srgbClr val="FFFFFF"/>
                </a:solidFill>
              </a:rPr>
              <a:t>PT Equity Life Indonesia</a:t>
            </a:r>
          </a:p>
        </p:txBody>
      </p:sp>
      <p:sp>
        <p:nvSpPr>
          <p:cNvPr id="6" name="ver"/>
          <p:cNvSpPr/>
          <p:nvPr/>
        </p:nvSpPr>
        <p:spPr>
          <a:xfrm>
            <a:off x="4800600" y="0"/>
            <a:ext cx="4068600" cy="68580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en-US" sz="800" dirty="0">
                <a:solidFill>
                  <a:srgbClr val="C8E6C9"/>
                </a:solidFill>
              </a:rPr>
              <a:t>Release &amp; Change Management v2.0</a:t>
            </a:r>
          </a:p>
        </p:txBody>
      </p:sp>
      <p:sp>
        <p:nvSpPr>
          <p:cNvPr id="7" name="title"/>
          <p:cNvSpPr/>
          <p:nvPr/>
        </p:nvSpPr>
        <p:spPr>
          <a:xfrm>
            <a:off x="365760" y="742950"/>
            <a:ext cx="8412750" cy="5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en-US" sz="2200" b="1" dirty="0">
                <a:solidFill>
                  <a:srgbClr val="1B5E20"/>
                </a:solidFill>
              </a:rPr>
              <a:t>What is Release Management?</a:t>
            </a:r>
          </a:p>
        </p:txBody>
      </p:sp>
      <p:sp>
        <p:nvSpPr>
          <p:cNvPr id="8" name="sub"/>
          <p:cNvSpPr/>
          <p:nvPr/>
        </p:nvSpPr>
        <p:spPr>
          <a:xfrm>
            <a:off x="365760" y="1270000"/>
            <a:ext cx="8412750" cy="3048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en-US" sz="950" i="1" dirty="0">
                <a:solidFill>
                  <a:srgbClr val="558B2F"/>
                </a:solidFill>
              </a:rPr>
              <a:t>Grounded in ITIL 4 &amp; ISO/IEC 27001:2022 — why every IT organization must have it</a:t>
            </a:r>
          </a:p>
        </p:txBody>
      </p:sp>
      <p:sp>
        <p:nvSpPr>
          <p:cNvPr id="9" name="div"/>
          <p:cNvSpPr/>
          <p:nvPr/>
        </p:nvSpPr>
        <p:spPr>
          <a:xfrm>
            <a:off x="365760" y="1575000"/>
            <a:ext cx="8412750" cy="25400"/>
          </a:xfrm>
          <a:prstGeom prst="rect">
            <a:avLst/>
          </a:prstGeom>
          <a:solidFill>
            <a:srgbClr val="76C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1h"/>
          <p:cNvSpPr/>
          <p:nvPr/>
        </p:nvSpPr>
        <p:spPr>
          <a:xfrm>
            <a:off x="274638" y="1650000"/>
            <a:ext cx="1981200" cy="406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1ico"/>
          <p:cNvSpPr/>
          <p:nvPr/>
        </p:nvSpPr>
        <p:spPr>
          <a:xfrm>
            <a:off x="330200" y="1669800"/>
            <a:ext cx="304800" cy="30480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12" name="c1ht"/>
          <p:cNvSpPr/>
          <p:nvPr/>
        </p:nvSpPr>
        <p:spPr>
          <a:xfrm>
            <a:off x="660400" y="1650000"/>
            <a:ext cx="1555400" cy="4064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950" b="1" dirty="0">
                <a:solidFill>
                  <a:srgbClr val="FFFFFF"/>
                </a:solidFill>
              </a:rPr>
              <a:t>ITIL 4</a:t>
            </a:r>
          </a:p>
          <a:p>
            <a:pPr algn="l"/>
            <a:r>
              <a:rPr lang="en-US" sz="800" dirty="0">
                <a:solidFill>
                  <a:srgbClr val="C8E6C9"/>
                </a:solidFill>
              </a:rPr>
              <a:t>Change Enablement</a:t>
            </a:r>
          </a:p>
        </p:txBody>
      </p:sp>
      <p:sp>
        <p:nvSpPr>
          <p:cNvPr id="13" name="c1b"/>
          <p:cNvSpPr/>
          <p:nvPr/>
        </p:nvSpPr>
        <p:spPr>
          <a:xfrm>
            <a:off x="274638" y="2056400"/>
            <a:ext cx="1981200" cy="269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txBody>
          <a:bodyPr/>
          <a:lstStyle/>
          <a:p/>
        </p:txBody>
      </p:sp>
      <p:sp>
        <p:nvSpPr>
          <p:cNvPr id="14" name="c1bar"/>
          <p:cNvSpPr/>
          <p:nvPr/>
        </p:nvSpPr>
        <p:spPr>
          <a:xfrm>
            <a:off x="274638" y="2056400"/>
            <a:ext cx="38100" cy="2692400"/>
          </a:xfrm>
          <a:prstGeom prst="rect">
            <a:avLst/>
          </a:prstGeom>
          <a:solidFill>
            <a:srgbClr val="76C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1txt"/>
          <p:cNvSpPr/>
          <p:nvPr/>
        </p:nvSpPr>
        <p:spPr>
          <a:xfrm>
            <a:off x="330200" y="2082800"/>
            <a:ext cx="1898700" cy="26477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>
              <a:lnSpc>
                <a:spcPts val="1300"/>
              </a:lnSpc>
              <a:spcAft>
                <a:spcPts val="160"/>
              </a:spcAft>
            </a:pPr>
            <a:r>
              <a:rPr lang="en-US" sz="800" b="1" dirty="0">
                <a:solidFill>
                  <a:srgbClr val="1B5E20"/>
                </a:solidFill>
              </a:rPr>
              <a:t>Definition</a:t>
            </a:r>
          </a:p>
          <a:p>
            <a:pPr algn="l">
              <a:lnSpc>
                <a:spcPts val="1300"/>
              </a:lnSpc>
              <a:spcAft>
                <a:spcPts val="260"/>
              </a:spcAft>
            </a:pPr>
            <a:r>
              <a:rPr lang="en-US" sz="775" dirty="0">
                <a:solidFill>
                  <a:srgbClr val="212121"/>
                </a:solidFill>
              </a:rPr>
              <a:t>A practice to maximize the number of successful IT changes by properly assessing risk, authorizing, and managing the change schedule.</a:t>
            </a:r>
          </a:p>
          <a:p>
            <a:pPr algn="l">
              <a:lnSpc>
                <a:spcPts val="1300"/>
              </a:lnSpc>
              <a:spcAft>
                <a:spcPts val="160"/>
              </a:spcAft>
            </a:pPr>
            <a:r>
              <a:rPr lang="en-US" sz="800" b="1" dirty="0">
                <a:solidFill>
                  <a:srgbClr val="1B5E20"/>
                </a:solidFill>
              </a:rPr>
              <a:t>3 Change Types</a:t>
            </a:r>
          </a:p>
          <a:p>
            <a:pPr algn="l">
              <a:lnSpc>
                <a:spcPts val="1300"/>
              </a:lnSpc>
              <a:spcAft>
                <a:spcPts val="110"/>
              </a:spcAft>
            </a:pPr>
            <a:r>
              <a:rPr lang="en-US" sz="775" b="1" dirty="0">
                <a:solidFill>
                  <a:srgbClr val="388E3C"/>
                </a:solidFill>
              </a:rPr>
              <a:t xml:space="preserve">Standard: </a:t>
            </a:r>
            <a:r>
              <a:rPr lang="en-US" sz="775" dirty="0">
                <a:solidFill>
                  <a:srgbClr val="212121"/>
                </a:solidFill>
              </a:rPr>
              <a:t>Pre-approved, low risk</a:t>
            </a:r>
          </a:p>
          <a:p>
            <a:pPr algn="l">
              <a:lnSpc>
                <a:spcPts val="1300"/>
              </a:lnSpc>
              <a:spcAft>
                <a:spcPts val="110"/>
              </a:spcAft>
            </a:pPr>
            <a:r>
              <a:rPr lang="en-US" sz="775" b="1" dirty="0">
                <a:solidFill>
                  <a:srgbClr val="F57F17"/>
                </a:solidFill>
              </a:rPr>
              <a:t xml:space="preserve">Normal: </a:t>
            </a:r>
            <a:r>
              <a:rPr lang="en-US" sz="775" dirty="0">
                <a:solidFill>
                  <a:srgbClr val="212121"/>
                </a:solidFill>
              </a:rPr>
              <a:t>Needs CAB review, scheduled</a:t>
            </a:r>
          </a:p>
          <a:p>
            <a:pPr algn="l">
              <a:lnSpc>
                <a:spcPts val="1300"/>
              </a:lnSpc>
              <a:spcAft>
                <a:spcPts val="230"/>
              </a:spcAft>
            </a:pPr>
            <a:r>
              <a:rPr lang="en-US" sz="775" b="1" dirty="0">
                <a:solidFill>
                  <a:srgbClr val="C62828"/>
                </a:solidFill>
              </a:rPr>
              <a:t xml:space="preserve">Emergency: </a:t>
            </a:r>
            <a:r>
              <a:rPr lang="en-US" sz="775" dirty="0">
                <a:solidFill>
                  <a:srgbClr val="212121"/>
                </a:solidFill>
              </a:rPr>
              <a:t>Fast-track for critical incidents</a:t>
            </a:r>
          </a:p>
          <a:p>
            <a:pPr algn="l">
              <a:lnSpc>
                <a:spcPts val="1300"/>
              </a:lnSpc>
              <a:spcAft>
                <a:spcPts val="160"/>
              </a:spcAft>
            </a:pPr>
            <a:r>
              <a:rPr lang="en-US" sz="800" b="1" dirty="0">
                <a:solidFill>
                  <a:srgbClr val="1B5E20"/>
                </a:solidFill>
              </a:rPr>
              <a:t>Core Principle</a:t>
            </a:r>
          </a:p>
          <a:p>
            <a:pPr algn="l">
              <a:lnSpc>
                <a:spcPts val="1300"/>
              </a:lnSpc>
            </a:pPr>
            <a:r>
              <a:rPr lang="en-US" sz="775" dirty="0">
                <a:solidFill>
                  <a:srgbClr val="212121"/>
                </a:solidFill>
              </a:rPr>
              <a:t>Every change must be planned, tested, authorized, and rollback-ready.</a:t>
            </a:r>
          </a:p>
        </p:txBody>
      </p:sp>
      <p:sp>
        <p:nvSpPr>
          <p:cNvPr id="20" name="c2h"/>
          <p:cNvSpPr/>
          <p:nvPr/>
        </p:nvSpPr>
        <p:spPr>
          <a:xfrm>
            <a:off x="2316480" y="1650000"/>
            <a:ext cx="1981200" cy="406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c2ico"/>
          <p:cNvSpPr/>
          <p:nvPr/>
        </p:nvSpPr>
        <p:spPr>
          <a:xfrm>
            <a:off x="2371080" y="1669800"/>
            <a:ext cx="304800" cy="30480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22" name="c2ht"/>
          <p:cNvSpPr/>
          <p:nvPr/>
        </p:nvSpPr>
        <p:spPr>
          <a:xfrm>
            <a:off x="2701880" y="1650000"/>
            <a:ext cx="1555400" cy="4064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950" b="1" dirty="0">
                <a:solidFill>
                  <a:srgbClr val="FFFFFF"/>
                </a:solidFill>
              </a:rPr>
              <a:t>ISO 27001:2022</a:t>
            </a:r>
          </a:p>
          <a:p>
            <a:pPr algn="l"/>
            <a:r>
              <a:rPr lang="en-US" sz="800" dirty="0">
                <a:solidFill>
                  <a:srgbClr val="C8E6C9"/>
                </a:solidFill>
              </a:rPr>
              <a:t>Control A.8.32</a:t>
            </a:r>
          </a:p>
        </p:txBody>
      </p:sp>
      <p:sp>
        <p:nvSpPr>
          <p:cNvPr id="23" name="c2b"/>
          <p:cNvSpPr/>
          <p:nvPr/>
        </p:nvSpPr>
        <p:spPr>
          <a:xfrm>
            <a:off x="2316480" y="2056400"/>
            <a:ext cx="1981200" cy="269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txBody>
          <a:bodyPr/>
          <a:lstStyle/>
          <a:p/>
        </p:txBody>
      </p:sp>
      <p:sp>
        <p:nvSpPr>
          <p:cNvPr id="24" name="c2bar"/>
          <p:cNvSpPr/>
          <p:nvPr/>
        </p:nvSpPr>
        <p:spPr>
          <a:xfrm>
            <a:off x="2316480" y="2056400"/>
            <a:ext cx="38100" cy="2692400"/>
          </a:xfrm>
          <a:prstGeom prst="rect">
            <a:avLst/>
          </a:prstGeom>
          <a:solidFill>
            <a:srgbClr val="76C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c2txt"/>
          <p:cNvSpPr/>
          <p:nvPr/>
        </p:nvSpPr>
        <p:spPr>
          <a:xfrm>
            <a:off x="2371080" y="2082800"/>
            <a:ext cx="1898700" cy="26477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>
              <a:lnSpc>
                <a:spcPts val="1300"/>
              </a:lnSpc>
              <a:spcAft>
                <a:spcPts val="160"/>
              </a:spcAft>
            </a:pPr>
            <a:r>
              <a:rPr lang="en-US" sz="800" b="1" dirty="0">
                <a:solidFill>
                  <a:srgbClr val="2E7D32"/>
                </a:solidFill>
              </a:rPr>
              <a:t>Mandatory Requirement</a:t>
            </a:r>
          </a:p>
          <a:p>
            <a:pPr algn="l">
              <a:lnSpc>
                <a:spcPts val="1300"/>
              </a:lnSpc>
              <a:spcAft>
                <a:spcPts val="250"/>
              </a:spcAft>
            </a:pPr>
            <a:r>
              <a:rPr lang="en-US" sz="775" dirty="0">
                <a:solidFill>
                  <a:srgbClr val="212121"/>
                </a:solidFill>
              </a:rPr>
              <a:t>Changes to information systems must be planned, tested, reviewed, and documented to protect information security.</a:t>
            </a:r>
          </a:p>
          <a:p>
            <a:pPr algn="l">
              <a:lnSpc>
                <a:spcPts val="1300"/>
              </a:lnSpc>
              <a:spcAft>
                <a:spcPts val="150"/>
              </a:spcAft>
            </a:pPr>
            <a:r>
              <a:rPr lang="en-US" sz="800" b="1" dirty="0">
                <a:solidFill>
                  <a:srgbClr val="2E7D32"/>
                </a:solidFill>
              </a:rPr>
              <a:t>4 Key Controls</a:t>
            </a:r>
          </a:p>
          <a:p>
            <a:pPr algn="l">
              <a:lnSpc>
                <a:spcPts val="1300"/>
              </a:lnSpc>
              <a:spcAft>
                <a:spcPts val="110"/>
              </a:spcAft>
            </a:pPr>
            <a:r>
              <a:rPr lang="en-US" sz="775" b="1" dirty="0">
                <a:solidFill>
                  <a:srgbClr val="388E3C"/>
                </a:solidFill>
              </a:rPr>
              <a:t xml:space="preserve">A.8.32 </a:t>
            </a:r>
            <a:r>
              <a:rPr lang="en-US" sz="775" dirty="0">
                <a:solidFill>
                  <a:srgbClr val="212121"/>
                </a:solidFill>
              </a:rPr>
              <a:t>Change Management</a:t>
            </a:r>
          </a:p>
          <a:p>
            <a:pPr algn="l">
              <a:lnSpc>
                <a:spcPts val="1300"/>
              </a:lnSpc>
              <a:spcAft>
                <a:spcPts val="110"/>
              </a:spcAft>
            </a:pPr>
            <a:r>
              <a:rPr lang="en-US" sz="775" b="1" dirty="0">
                <a:solidFill>
                  <a:srgbClr val="388E3C"/>
                </a:solidFill>
              </a:rPr>
              <a:t xml:space="preserve">A.5.3 </a:t>
            </a:r>
            <a:r>
              <a:rPr lang="en-US" sz="775" dirty="0">
                <a:solidFill>
                  <a:srgbClr val="212121"/>
                </a:solidFill>
              </a:rPr>
              <a:t>Segregation of Duties</a:t>
            </a:r>
          </a:p>
          <a:p>
            <a:pPr algn="l">
              <a:lnSpc>
                <a:spcPts val="1300"/>
              </a:lnSpc>
              <a:spcAft>
                <a:spcPts val="110"/>
              </a:spcAft>
            </a:pPr>
            <a:r>
              <a:rPr lang="en-US" sz="775" b="1" dirty="0">
                <a:solidFill>
                  <a:srgbClr val="388E3C"/>
                </a:solidFill>
              </a:rPr>
              <a:t xml:space="preserve">A.8.15 </a:t>
            </a:r>
            <a:r>
              <a:rPr lang="en-US" sz="775" dirty="0">
                <a:solidFill>
                  <a:srgbClr val="212121"/>
                </a:solidFill>
              </a:rPr>
              <a:t>Logging &amp; Audit Trail</a:t>
            </a:r>
          </a:p>
          <a:p>
            <a:pPr algn="l">
              <a:lnSpc>
                <a:spcPts val="1300"/>
              </a:lnSpc>
              <a:spcAft>
                <a:spcPts val="220"/>
              </a:spcAft>
            </a:pPr>
            <a:r>
              <a:rPr lang="en-US" sz="775" b="1" dirty="0">
                <a:solidFill>
                  <a:srgbClr val="388E3C"/>
                </a:solidFill>
              </a:rPr>
              <a:t xml:space="preserve">A.8.29 </a:t>
            </a:r>
            <a:r>
              <a:rPr lang="en-US" sz="775" dirty="0">
                <a:solidFill>
                  <a:srgbClr val="212121"/>
                </a:solidFill>
              </a:rPr>
              <a:t>Security Testing</a:t>
            </a:r>
          </a:p>
          <a:p>
            <a:pPr algn="l">
              <a:lnSpc>
                <a:spcPts val="1300"/>
              </a:lnSpc>
              <a:spcAft>
                <a:spcPts val="150"/>
              </a:spcAft>
            </a:pPr>
            <a:r>
              <a:rPr lang="en-US" sz="800" b="1" dirty="0">
                <a:solidFill>
                  <a:srgbClr val="2E7D32"/>
                </a:solidFill>
              </a:rPr>
              <a:t>Local Regulation</a:t>
            </a:r>
          </a:p>
          <a:p>
            <a:pPr algn="l">
              <a:lnSpc>
                <a:spcPts val="1300"/>
              </a:lnSpc>
            </a:pPr>
            <a:r>
              <a:rPr lang="en-US" sz="775" dirty="0">
                <a:solidFill>
                  <a:srgbClr val="212121"/>
                </a:solidFill>
              </a:rPr>
              <a:t>POJK No.11/2022 requires documented IT change management for financial institutions in Indonesia.</a:t>
            </a:r>
          </a:p>
        </p:txBody>
      </p:sp>
      <p:sp>
        <p:nvSpPr>
          <p:cNvPr id="30" name="c3h"/>
          <p:cNvSpPr/>
          <p:nvPr/>
        </p:nvSpPr>
        <p:spPr>
          <a:xfrm>
            <a:off x="4358320" y="1650000"/>
            <a:ext cx="1981200" cy="406400"/>
          </a:xfrm>
          <a:prstGeom prst="rect">
            <a:avLst/>
          </a:prstGeom>
          <a:solidFill>
            <a:srgbClr val="558B2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c3ico"/>
          <p:cNvSpPr/>
          <p:nvPr/>
        </p:nvSpPr>
        <p:spPr>
          <a:xfrm>
            <a:off x="4412920" y="1669800"/>
            <a:ext cx="304800" cy="30480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32" name="c3ht"/>
          <p:cNvSpPr/>
          <p:nvPr/>
        </p:nvSpPr>
        <p:spPr>
          <a:xfrm>
            <a:off x="4743720" y="1650000"/>
            <a:ext cx="1555400" cy="4064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950" b="1" dirty="0">
                <a:solidFill>
                  <a:srgbClr val="FFFFFF"/>
                </a:solidFill>
              </a:rPr>
              <a:t>Why It Matters</a:t>
            </a:r>
          </a:p>
          <a:p>
            <a:pPr algn="l"/>
            <a:r>
              <a:rPr lang="en-US" sz="800" dirty="0">
                <a:solidFill>
                  <a:srgbClr val="C8E6C9"/>
                </a:solidFill>
              </a:rPr>
              <a:t>Root causes &amp; justification</a:t>
            </a:r>
          </a:p>
        </p:txBody>
      </p:sp>
      <p:sp>
        <p:nvSpPr>
          <p:cNvPr id="33" name="c3b"/>
          <p:cNvSpPr/>
          <p:nvPr/>
        </p:nvSpPr>
        <p:spPr>
          <a:xfrm>
            <a:off x="4358320" y="2056400"/>
            <a:ext cx="1981200" cy="269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txBody>
          <a:bodyPr/>
          <a:lstStyle/>
          <a:p/>
        </p:txBody>
      </p:sp>
      <p:sp>
        <p:nvSpPr>
          <p:cNvPr id="34" name="c3bar"/>
          <p:cNvSpPr/>
          <p:nvPr/>
        </p:nvSpPr>
        <p:spPr>
          <a:xfrm>
            <a:off x="4358320" y="2056400"/>
            <a:ext cx="38100" cy="2692400"/>
          </a:xfrm>
          <a:prstGeom prst="rect">
            <a:avLst/>
          </a:prstGeom>
          <a:solidFill>
            <a:srgbClr val="76C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c3txt"/>
          <p:cNvSpPr/>
          <p:nvPr/>
        </p:nvSpPr>
        <p:spPr>
          <a:xfrm>
            <a:off x="4412920" y="2082800"/>
            <a:ext cx="1898700" cy="26477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>
              <a:lnSpc>
                <a:spcPts val="1300"/>
              </a:lnSpc>
              <a:spcAft>
                <a:spcPts val="110"/>
              </a:spcAft>
            </a:pPr>
            <a:r>
              <a:rPr lang="en-US" sz="775" b="1" dirty="0">
                <a:solidFill>
                  <a:srgbClr val="C62828"/>
                </a:solidFill>
              </a:rPr>
              <a:t>Without Release Management:</a:t>
            </a:r>
          </a:p>
          <a:p>
            <a:pPr algn="l">
              <a:lnSpc>
                <a:spcPts val="1300"/>
              </a:lnSpc>
              <a:spcAft>
                <a:spcPts val="80"/>
              </a:spcAft>
            </a:pPr>
            <a:r>
              <a:rPr lang="en-US" sz="775" dirty="0">
                <a:solidFill>
                  <a:srgbClr val="212121"/>
                </a:solidFill>
              </a:rPr>
              <a:t>• 80% of outages caused by unmanaged changes (Gartner)</a:t>
            </a:r>
          </a:p>
          <a:p>
            <a:pPr algn="l">
              <a:lnSpc>
                <a:spcPts val="1300"/>
              </a:lnSpc>
              <a:spcAft>
                <a:spcPts val="80"/>
              </a:spcAft>
            </a:pPr>
            <a:r>
              <a:rPr lang="en-US" sz="775" dirty="0">
                <a:solidFill>
                  <a:srgbClr val="212121"/>
                </a:solidFill>
              </a:rPr>
              <a:t>• No audit trail = failed ISO 27001 audit</a:t>
            </a:r>
          </a:p>
          <a:p>
            <a:pPr algn="l">
              <a:lnSpc>
                <a:spcPts val="1300"/>
              </a:lnSpc>
              <a:spcAft>
                <a:spcPts val="80"/>
              </a:spcAft>
            </a:pPr>
            <a:r>
              <a:rPr lang="en-US" sz="775" dirty="0">
                <a:solidFill>
                  <a:srgbClr val="212121"/>
                </a:solidFill>
              </a:rPr>
              <a:t>• No rollback plan = slow recovery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lang="en-US" sz="775" dirty="0">
                <a:solidFill>
                  <a:srgbClr val="212121"/>
                </a:solidFill>
              </a:rPr>
              <a:t>• Unclear who approves, who deploys</a:t>
            </a:r>
          </a:p>
          <a:p>
            <a:pPr algn="l">
              <a:lnSpc>
                <a:spcPts val="1300"/>
              </a:lnSpc>
              <a:spcAft>
                <a:spcPts val="110"/>
              </a:spcAft>
            </a:pPr>
            <a:r>
              <a:rPr lang="en-US" sz="775" b="1" dirty="0">
                <a:solidFill>
                  <a:srgbClr val="388E3C"/>
                </a:solidFill>
              </a:rPr>
              <a:t>With Release Management:</a:t>
            </a:r>
          </a:p>
          <a:p>
            <a:pPr algn="l">
              <a:lnSpc>
                <a:spcPts val="1300"/>
              </a:lnSpc>
              <a:spcAft>
                <a:spcPts val="80"/>
              </a:spcAft>
            </a:pPr>
            <a:r>
              <a:rPr lang="en-US" sz="775" dirty="0">
                <a:solidFill>
                  <a:srgbClr val="212121"/>
                </a:solidFill>
              </a:rPr>
              <a:t>• Every change authorized &amp; fully traceable</a:t>
            </a:r>
          </a:p>
          <a:p>
            <a:pPr algn="l">
              <a:lnSpc>
                <a:spcPts val="1300"/>
              </a:lnSpc>
              <a:spcAft>
                <a:spcPts val="80"/>
              </a:spcAft>
            </a:pPr>
            <a:r>
              <a:rPr lang="en-US" sz="775" dirty="0">
                <a:solidFill>
                  <a:srgbClr val="212121"/>
                </a:solidFill>
              </a:rPr>
              <a:t>• Rollback ready = faster MTTR</a:t>
            </a:r>
          </a:p>
          <a:p>
            <a:pPr algn="l">
              <a:lnSpc>
                <a:spcPts val="1300"/>
              </a:lnSpc>
            </a:pPr>
            <a:r>
              <a:rPr lang="en-US" sz="775" dirty="0">
                <a:solidFill>
                  <a:srgbClr val="212121"/>
                </a:solidFill>
              </a:rPr>
              <a:t>• Clear governance = OJK &amp; ISO audit-ready</a:t>
            </a:r>
          </a:p>
        </p:txBody>
      </p:sp>
      <p:sp>
        <p:nvSpPr>
          <p:cNvPr id="40" name="c4h"/>
          <p:cNvSpPr/>
          <p:nvPr/>
        </p:nvSpPr>
        <p:spPr>
          <a:xfrm>
            <a:off x="6400160" y="1650000"/>
            <a:ext cx="2469000" cy="406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c4ico"/>
          <p:cNvSpPr/>
          <p:nvPr/>
        </p:nvSpPr>
        <p:spPr>
          <a:xfrm>
            <a:off x="6454760" y="1669800"/>
            <a:ext cx="304800" cy="30480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42" name="c4ht"/>
          <p:cNvSpPr/>
          <p:nvPr/>
        </p:nvSpPr>
        <p:spPr>
          <a:xfrm>
            <a:off x="6789560" y="1650000"/>
            <a:ext cx="2028840" cy="4064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950" b="1" dirty="0">
                <a:solidFill>
                  <a:srgbClr val="FFFFFF"/>
                </a:solidFill>
              </a:rPr>
              <a:t>Business Impact</a:t>
            </a:r>
          </a:p>
          <a:p>
            <a:pPr algn="l"/>
            <a:r>
              <a:rPr lang="en-US" sz="800" dirty="0">
                <a:solidFill>
                  <a:srgbClr val="C8E6C9"/>
                </a:solidFill>
              </a:rPr>
              <a:t>Why leadership cares</a:t>
            </a:r>
          </a:p>
        </p:txBody>
      </p:sp>
      <p:sp>
        <p:nvSpPr>
          <p:cNvPr id="43" name="c4b"/>
          <p:cNvSpPr/>
          <p:nvPr/>
        </p:nvSpPr>
        <p:spPr>
          <a:xfrm>
            <a:off x="6400160" y="2056400"/>
            <a:ext cx="2469000" cy="269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txBody>
          <a:bodyPr/>
          <a:lstStyle/>
          <a:p/>
        </p:txBody>
      </p:sp>
      <p:sp>
        <p:nvSpPr>
          <p:cNvPr id="44" name="c4bar"/>
          <p:cNvSpPr/>
          <p:nvPr/>
        </p:nvSpPr>
        <p:spPr>
          <a:xfrm>
            <a:off x="6400160" y="2056400"/>
            <a:ext cx="38100" cy="2692400"/>
          </a:xfrm>
          <a:prstGeom prst="rect">
            <a:avLst/>
          </a:prstGeom>
          <a:solidFill>
            <a:srgbClr val="76C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s1b"/>
          <p:cNvSpPr/>
          <p:nvPr/>
        </p:nvSpPr>
        <p:spPr>
          <a:xfrm>
            <a:off x="6454760" y="2107960"/>
            <a:ext cx="1143000" cy="53340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txBody>
          <a:bodyPr/>
          <a:lstStyle/>
          <a:p/>
        </p:txBody>
      </p:sp>
      <p:sp>
        <p:nvSpPr>
          <p:cNvPr id="51" name="s1t"/>
          <p:cNvSpPr/>
          <p:nvPr/>
        </p:nvSpPr>
        <p:spPr>
          <a:xfrm>
            <a:off x="6454760" y="2107960"/>
            <a:ext cx="1143000" cy="5334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1B5E20"/>
                </a:solidFill>
              </a:rPr>
              <a:t>99.9%</a:t>
            </a:r>
          </a:p>
          <a:p>
            <a:pPr algn="ctr"/>
            <a:r>
              <a:rPr lang="en-US" sz="700" dirty="0">
                <a:solidFill>
                  <a:srgbClr val="558B2F"/>
                </a:solidFill>
              </a:rPr>
              <a:t>Availability</a:t>
            </a:r>
          </a:p>
          <a:p>
            <a:pPr algn="ctr"/>
            <a:r>
              <a:rPr lang="en-US" sz="700" dirty="0">
                <a:solidFill>
                  <a:srgbClr val="558B2F"/>
                </a:solidFill>
              </a:rPr>
              <a:t>SLA Target</a:t>
            </a:r>
          </a:p>
        </p:txBody>
      </p:sp>
      <p:sp>
        <p:nvSpPr>
          <p:cNvPr id="52" name="s2b"/>
          <p:cNvSpPr/>
          <p:nvPr/>
        </p:nvSpPr>
        <p:spPr>
          <a:xfrm>
            <a:off x="7670760" y="2107960"/>
            <a:ext cx="1143000" cy="5334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53" name="s2t"/>
          <p:cNvSpPr/>
          <p:nvPr/>
        </p:nvSpPr>
        <p:spPr>
          <a:xfrm>
            <a:off x="7670760" y="2107960"/>
            <a:ext cx="1143000" cy="5334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2E7D32"/>
                </a:solidFill>
              </a:rPr>
              <a:t>100%</a:t>
            </a:r>
          </a:p>
          <a:p>
            <a:pPr algn="ctr"/>
            <a:r>
              <a:rPr lang="en-US" sz="700" dirty="0">
                <a:solidFill>
                  <a:srgbClr val="558B2F"/>
                </a:solidFill>
              </a:rPr>
              <a:t>Audit Trail</a:t>
            </a:r>
          </a:p>
          <a:p>
            <a:pPr algn="ctr"/>
            <a:r>
              <a:rPr lang="en-US" sz="700" dirty="0">
                <a:solidFill>
                  <a:srgbClr val="558B2F"/>
                </a:solidFill>
              </a:rPr>
              <a:t>Coverage</a:t>
            </a:r>
          </a:p>
        </p:txBody>
      </p:sp>
      <p:sp>
        <p:nvSpPr>
          <p:cNvPr id="54" name="s3b"/>
          <p:cNvSpPr/>
          <p:nvPr/>
        </p:nvSpPr>
        <p:spPr>
          <a:xfrm>
            <a:off x="6454760" y="2717560"/>
            <a:ext cx="1143000" cy="533400"/>
          </a:xfrm>
          <a:prstGeom prst="rect">
            <a:avLst/>
          </a:prstGeom>
          <a:solidFill>
            <a:srgbClr val="E8F5E9"/>
          </a:solidFill>
          <a:ln w="19050">
            <a:solidFill>
              <a:srgbClr val="558B2F"/>
            </a:solidFill>
          </a:ln>
        </p:spPr>
        <p:txBody>
          <a:bodyPr/>
          <a:lstStyle/>
          <a:p/>
        </p:txBody>
      </p:sp>
      <p:sp>
        <p:nvSpPr>
          <p:cNvPr id="55" name="s3t"/>
          <p:cNvSpPr/>
          <p:nvPr/>
        </p:nvSpPr>
        <p:spPr>
          <a:xfrm>
            <a:off x="6454760" y="2717560"/>
            <a:ext cx="1143000" cy="5334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558B2F"/>
                </a:solidFill>
              </a:rPr>
              <a:t>&lt;30m</a:t>
            </a:r>
          </a:p>
          <a:p>
            <a:pPr algn="ctr"/>
            <a:r>
              <a:rPr lang="en-US" sz="700" dirty="0">
                <a:solidFill>
                  <a:srgbClr val="558B2F"/>
                </a:solidFill>
              </a:rPr>
              <a:t>Rollback SLA</a:t>
            </a:r>
          </a:p>
          <a:p>
            <a:pPr algn="ctr"/>
            <a:r>
              <a:rPr lang="en-US" sz="700" dirty="0">
                <a:solidFill>
                  <a:srgbClr val="558B2F"/>
                </a:solidFill>
              </a:rPr>
              <a:t>Recovery Time</a:t>
            </a:r>
          </a:p>
        </p:txBody>
      </p:sp>
      <p:sp>
        <p:nvSpPr>
          <p:cNvPr id="56" name="s4b"/>
          <p:cNvSpPr/>
          <p:nvPr/>
        </p:nvSpPr>
        <p:spPr>
          <a:xfrm>
            <a:off x="7670760" y="2717560"/>
            <a:ext cx="1143000" cy="533400"/>
          </a:xfrm>
          <a:prstGeom prst="rect">
            <a:avLst/>
          </a:prstGeom>
          <a:solidFill>
            <a:srgbClr val="E8F5E9"/>
          </a:solidFill>
          <a:ln w="19050">
            <a:solidFill>
              <a:srgbClr val="76C442"/>
            </a:solidFill>
          </a:ln>
        </p:spPr>
        <p:txBody>
          <a:bodyPr/>
          <a:lstStyle/>
          <a:p/>
        </p:txBody>
      </p:sp>
      <p:sp>
        <p:nvSpPr>
          <p:cNvPr id="57" name="s4t"/>
          <p:cNvSpPr/>
          <p:nvPr/>
        </p:nvSpPr>
        <p:spPr>
          <a:xfrm>
            <a:off x="7670760" y="2717560"/>
            <a:ext cx="1143000" cy="5334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388E3C"/>
                </a:solidFill>
              </a:rPr>
              <a:t>≥95%</a:t>
            </a:r>
          </a:p>
          <a:p>
            <a:pPr algn="ctr"/>
            <a:r>
              <a:rPr lang="en-US" sz="700" dirty="0">
                <a:solidFill>
                  <a:srgbClr val="558B2F"/>
                </a:solidFill>
              </a:rPr>
              <a:t>Change Success</a:t>
            </a:r>
          </a:p>
          <a:p>
            <a:pPr algn="ctr"/>
            <a:r>
              <a:rPr lang="en-US" sz="700" dirty="0">
                <a:solidFill>
                  <a:srgbClr val="558B2F"/>
                </a:solidFill>
              </a:rPr>
              <a:t>Rate Target</a:t>
            </a:r>
          </a:p>
        </p:txBody>
      </p:sp>
      <p:sp>
        <p:nvSpPr>
          <p:cNvPr id="58" name="strat"/>
          <p:cNvSpPr/>
          <p:nvPr/>
        </p:nvSpPr>
        <p:spPr>
          <a:xfrm>
            <a:off x="6454760" y="3302960"/>
            <a:ext cx="2362200" cy="13208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>
              <a:lnSpc>
                <a:spcPts val="1300"/>
              </a:lnSpc>
              <a:spcAft>
                <a:spcPts val="150"/>
              </a:spcAft>
            </a:pPr>
            <a:r>
              <a:rPr lang="en-US" sz="800" b="1" dirty="0">
                <a:solidFill>
                  <a:srgbClr val="1B5E20"/>
                </a:solidFill>
              </a:rPr>
              <a:t>Strategic Value for ELI</a:t>
            </a:r>
          </a:p>
          <a:p>
            <a:pPr algn="l">
              <a:lnSpc>
                <a:spcPts val="1300"/>
              </a:lnSpc>
              <a:spcAft>
                <a:spcPts val="90"/>
              </a:spcAft>
            </a:pPr>
            <a:r>
              <a:rPr lang="en-US" sz="750" dirty="0">
                <a:solidFill>
                  <a:srgbClr val="212121"/>
                </a:solidFill>
              </a:rPr>
              <a:t>• Protect ELI reputation from IT incidents</a:t>
            </a:r>
          </a:p>
          <a:p>
            <a:pPr algn="l">
              <a:lnSpc>
                <a:spcPts val="1300"/>
              </a:lnSpc>
              <a:spcAft>
                <a:spcPts val="90"/>
              </a:spcAft>
            </a:pPr>
            <a:r>
              <a:rPr lang="en-US" sz="750" dirty="0">
                <a:solidFill>
                  <a:srgbClr val="212121"/>
                </a:solidFill>
              </a:rPr>
              <a:t>• Meet OJK &amp; ISO 27001 obligations</a:t>
            </a:r>
          </a:p>
          <a:p>
            <a:pPr algn="l">
              <a:lnSpc>
                <a:spcPts val="1300"/>
              </a:lnSpc>
              <a:spcAft>
                <a:spcPts val="90"/>
              </a:spcAft>
            </a:pPr>
            <a:r>
              <a:rPr lang="en-US" sz="750" dirty="0">
                <a:solidFill>
                  <a:srgbClr val="212121"/>
                </a:solidFill>
              </a:rPr>
              <a:t>• Reduce unplanned downtime &amp; incident costs</a:t>
            </a:r>
          </a:p>
          <a:p>
            <a:pPr algn="l">
              <a:lnSpc>
                <a:spcPts val="1300"/>
              </a:lnSpc>
            </a:pPr>
            <a:r>
              <a:rPr lang="en-US" sz="750" dirty="0">
                <a:solidFill>
                  <a:srgbClr val="212121"/>
                </a:solidFill>
              </a:rPr>
              <a:t>• Faster feature delivery with governance</a:t>
            </a:r>
          </a:p>
        </p:txBody>
      </p:sp>
      <p:sp>
        <p:nvSpPr>
          <p:cNvPr id="60" name="ftrbg"/>
          <p:cNvSpPr/>
          <p:nvPr/>
        </p:nvSpPr>
        <p:spPr>
          <a:xfrm>
            <a:off x="0" y="4889040"/>
            <a:ext cx="9144000" cy="2544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ftrL"/>
          <p:cNvSpPr/>
          <p:nvPr/>
        </p:nvSpPr>
        <p:spPr>
          <a:xfrm>
            <a:off x="274638" y="4889040"/>
            <a:ext cx="5486400" cy="25446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675" dirty="0">
                <a:solidFill>
                  <a:srgbClr val="C8E6C9"/>
                </a:solidFill>
              </a:rPr>
              <a:t>CONFIDENTIAL | IT DevSecOps | PT Equity Life Indonesia</a:t>
            </a:r>
          </a:p>
        </p:txBody>
      </p:sp>
      <p:sp>
        <p:nvSpPr>
          <p:cNvPr id="62" name="ftrR"/>
          <p:cNvSpPr/>
          <p:nvPr/>
        </p:nvSpPr>
        <p:spPr>
          <a:xfrm>
            <a:off x="8229600" y="4889040"/>
            <a:ext cx="731520" cy="25446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en-US" sz="675" dirty="0">
                <a:solidFill>
                  <a:srgbClr val="C8E6C9"/>
                </a:solidFill>
              </a:rPr>
              <a:t>2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 IT Release &amp; Change Management v2.0</dc:title>
  <dc:subject>PptxGenJS Presentation</dc:subject>
  <dc:creator>IT DevSecOps - PT Equity Life Indonesia</dc:creator>
  <cp:lastModifiedBy>IT DevSecOps - PT Equity Life Indonesia</cp:lastModifiedBy>
  <cp:revision>1</cp:revision>
  <dcterms:created xsi:type="dcterms:W3CDTF">2026-03-10T13:44:13Z</dcterms:created>
  <dcterms:modified xsi:type="dcterms:W3CDTF">2026-03-10T13:44:13Z</dcterms:modified>
</cp:coreProperties>
</file>